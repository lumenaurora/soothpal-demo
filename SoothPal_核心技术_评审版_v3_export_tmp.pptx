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0332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核心技术（1/4）技术闭环架构：从记录到干预的全流程引擎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D9E7FB"/>
                </a:solidFill>
                <a:latin typeface="Microsoft YaHei"/>
              </a:rPr>
              <a:t>舒伴 SoothPal 以“低负担采集 + 可解释预警 + AI赋能教育”构建慢性疼痛居家管理底座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80010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8001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0" y="1005840"/>
            <a:ext cx="29718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15568"/>
            <a:ext cx="34747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Microsoft YaHei"/>
              </a:rPr>
              <a:t>核心流程：采集 → 建档 → 评估 → 干预 → 随访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417320" cy="132588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4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12710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Microsoft YaHei"/>
              </a:rPr>
              <a:t>零负担采集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9152"/>
            <a:ext cx="1271016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19" b="0">
                <a:solidFill>
                  <a:srgbClr val="1E2A3A"/>
                </a:solidFill>
                <a:latin typeface="Microsoft YaHei"/>
              </a:rPr>
              <a:t>2D点选/语音打卡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76272" y="2395728"/>
            <a:ext cx="109728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13432" y="1828800"/>
            <a:ext cx="1417320" cy="132588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4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6584" y="1993392"/>
            <a:ext cx="12710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Microsoft YaHei"/>
              </a:rPr>
              <a:t>数据建档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6584" y="2359152"/>
            <a:ext cx="1271016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19" b="0">
                <a:solidFill>
                  <a:srgbClr val="1E2A3A"/>
                </a:solidFill>
                <a:latin typeface="Microsoft YaHei"/>
              </a:rPr>
              <a:t>时间线+用户画像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58184" y="2395728"/>
            <a:ext cx="109728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95344" y="1828800"/>
            <a:ext cx="1417320" cy="1325880"/>
          </a:xfrm>
          <a:prstGeom prst="roundRect">
            <a:avLst/>
          </a:prstGeom>
          <a:solidFill>
            <a:srgbClr val="FFF4F4"/>
          </a:solidFill>
          <a:ln w="10160">
            <a:solidFill>
              <a:srgbClr val="B4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68496" y="1993392"/>
            <a:ext cx="12710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Microsoft YaHei"/>
              </a:rPr>
              <a:t>风险评估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6" y="2359152"/>
            <a:ext cx="1271016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19" b="0">
                <a:solidFill>
                  <a:srgbClr val="1E2A3A"/>
                </a:solidFill>
                <a:latin typeface="Microsoft YaHei"/>
              </a:rPr>
              <a:t>阈值+突变+状态机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340096" y="2395728"/>
            <a:ext cx="109728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77255" y="1828800"/>
            <a:ext cx="1417320" cy="132588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4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50407" y="1993392"/>
            <a:ext cx="12710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Microsoft YaHei"/>
              </a:rPr>
              <a:t>AI生成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0407" y="2359152"/>
            <a:ext cx="1271016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19" b="0">
                <a:solidFill>
                  <a:srgbClr val="1E2A3A"/>
                </a:solidFill>
                <a:latin typeface="Microsoft YaHei"/>
              </a:rPr>
              <a:t>检索增强+通俗表达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922007" y="2395728"/>
            <a:ext cx="109728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59168" y="1828800"/>
            <a:ext cx="1417320" cy="132588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4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1993392"/>
            <a:ext cx="12710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Microsoft YaHei"/>
              </a:rPr>
              <a:t>闭环随访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359152"/>
            <a:ext cx="1271016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19" b="0">
                <a:solidFill>
                  <a:srgbClr val="1E2A3A"/>
                </a:solidFill>
                <a:latin typeface="Microsoft YaHei"/>
              </a:rPr>
              <a:t>分级提醒+周报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53128"/>
            <a:ext cx="30175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Microsoft YaHei"/>
              </a:rPr>
              <a:t>关键技术栈（MVP可直接落地）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736592"/>
            <a:ext cx="2286000" cy="1325880"/>
          </a:xfrm>
          <a:prstGeom prst="roundRect">
            <a:avLst/>
          </a:prstGeom>
          <a:solidFill>
            <a:srgbClr val="F3F6FC"/>
          </a:solidFill>
          <a:ln w="10160">
            <a:solidFill>
              <a:srgbClr val="C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4818888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B5FA6"/>
                </a:solidFill>
                <a:latin typeface="Microsoft YaHei"/>
              </a:rPr>
              <a:t>前端与交互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" y="5047488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510235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微信小程序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" y="536752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42239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2D疼痛标注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" y="568756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574243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语音录入(ASR)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4736592"/>
            <a:ext cx="2286000" cy="1325880"/>
          </a:xfrm>
          <a:prstGeom prst="roundRect">
            <a:avLst/>
          </a:prstGeom>
          <a:solidFill>
            <a:srgbClr val="F3F6FC"/>
          </a:solidFill>
          <a:ln w="10160">
            <a:solidFill>
              <a:srgbClr val="C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9272" y="4818888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B5FA6"/>
                </a:solidFill>
                <a:latin typeface="Microsoft YaHei"/>
              </a:rPr>
              <a:t>服务与数据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92424" y="5047488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47288" y="510235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云托管/Serverless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92424" y="536752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47288" y="542239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MySQL + Redis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92424" y="568756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47288" y="574243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对象存储 + 审计日志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15000" y="4736592"/>
            <a:ext cx="2286000" cy="1325880"/>
          </a:xfrm>
          <a:prstGeom prst="roundRect">
            <a:avLst/>
          </a:prstGeom>
          <a:solidFill>
            <a:srgbClr val="F3F6FC"/>
          </a:solidFill>
          <a:ln w="10160">
            <a:solidFill>
              <a:srgbClr val="C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88152" y="4818888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B5FA6"/>
                </a:solidFill>
                <a:latin typeface="Microsoft YaHei"/>
              </a:rPr>
              <a:t>智能与触达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61304" y="5047488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16168" y="510235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RAG知识引擎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61304" y="536752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16168" y="542239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规则预警引擎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61304" y="568756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16168" y="574243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订阅消息/亲情号通知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1188720"/>
            <a:ext cx="2697480" cy="1874519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2B5FA6"/>
                </a:solidFill>
                <a:latin typeface="Microsoft YaHei"/>
              </a:rPr>
              <a:t>我们的技术主张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先保证医疗安全，再做AI体验增强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每次记录都转化为可行动的干预信息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围绕长期留存设计，而非一次性问卷工具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33104" y="3154680"/>
            <a:ext cx="2697480" cy="160020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22B8A9"/>
                </a:solidFill>
                <a:latin typeface="Microsoft YaHei"/>
              </a:rPr>
              <a:t>项目阶段目标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立项期完成端到端Demo闭环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试点期沉淀可审计规则与知识资产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33104" y="4892040"/>
            <a:ext cx="2697480" cy="118872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6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0" y="5074920"/>
            <a:ext cx="24231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E2A3A"/>
                </a:solidFill>
                <a:latin typeface="Microsoft YaHei"/>
              </a:rPr>
              <a:t>价值落点：
帮助患者“记录得下去、
看得懂趋势、及时被干预”。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" y="6537960"/>
            <a:ext cx="7315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D95"/>
                </a:solidFill>
                <a:latin typeface="Microsoft YaHei"/>
              </a:rPr>
              <a:t>1/4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20240" y="6473952"/>
            <a:ext cx="9966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D95"/>
                </a:solidFill>
                <a:latin typeface="Microsoft YaHei"/>
              </a:rPr>
              <a:t>参考：developers.weixin.qq.com；ima.qq.com；J Med Internet Res 2020;22(9):e20283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0332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核心技术（2/4）创新一：零负担数据采集，让随访真正可持续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D9E7FB"/>
                </a:solidFill>
                <a:latin typeface="Microsoft YaHei"/>
              </a:rPr>
              <a:t>用“10秒记录”替代“长问卷输入”，让真实世界数据持续产生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89320" y="1005840"/>
            <a:ext cx="5669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5669280"/>
            <a:ext cx="11155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15568"/>
            <a:ext cx="25603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Microsoft YaHei"/>
              </a:rPr>
              <a:t>交互入口：2D人体点选/涂抹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572768"/>
            <a:ext cx="1965960" cy="3566160"/>
          </a:xfrm>
          <a:prstGeom prst="roundRect">
            <a:avLst/>
          </a:prstGeom>
          <a:solidFill>
            <a:srgbClr val="FBFD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572768"/>
            <a:ext cx="1965960" cy="3566160"/>
          </a:xfrm>
          <a:prstGeom prst="roundRect">
            <a:avLst/>
          </a:prstGeom>
          <a:solidFill>
            <a:srgbClr val="FBFD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691640"/>
            <a:ext cx="868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B7D95"/>
                </a:solidFill>
                <a:latin typeface="Microsoft YaHei"/>
              </a:rPr>
              <a:t>前视图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691640"/>
            <a:ext cx="868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B7D95"/>
                </a:solidFill>
                <a:latin typeface="Microsoft YaHei"/>
              </a:rPr>
              <a:t>后视图</a:t>
            </a:r>
          </a:p>
        </p:txBody>
      </p:sp>
      <p:sp>
        <p:nvSpPr>
          <p:cNvPr id="13" name="Oval 12"/>
          <p:cNvSpPr/>
          <p:nvPr/>
        </p:nvSpPr>
        <p:spPr>
          <a:xfrm>
            <a:off x="1783080" y="233172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83080" y="283464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83080" y="406908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406908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71600" y="406908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69080" y="233172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69080" y="283464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11880" y="406908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406908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54480" y="3154680"/>
            <a:ext cx="530352" cy="530352"/>
          </a:xfrm>
          <a:prstGeom prst="ellipse">
            <a:avLst/>
          </a:prstGeom>
          <a:solidFill>
            <a:srgbClr val="F39D93"/>
          </a:solidFill>
          <a:ln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75887" y="3063240"/>
            <a:ext cx="658368" cy="658368"/>
          </a:xfrm>
          <a:prstGeom prst="ellipse">
            <a:avLst/>
          </a:prstGeom>
          <a:solidFill>
            <a:srgbClr val="ED7474"/>
          </a:solidFill>
          <a:ln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48463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B7D95"/>
                </a:solidFill>
                <a:latin typeface="Microsoft YaHei"/>
              </a:rPr>
              <a:t>记录方式：点选部位 + 强度滑条 + 一键保存，不要求长文本输入。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115568"/>
            <a:ext cx="25603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Microsoft YaHei"/>
              </a:rPr>
              <a:t>AI结构化采集流程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1600200"/>
            <a:ext cx="5175504" cy="77724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1837943"/>
            <a:ext cx="48463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1E2A3A"/>
                </a:solidFill>
                <a:latin typeface="Microsoft YaHei"/>
              </a:rPr>
              <a:t>1) 用户一句话描述疼痛变化与用药情况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705088" y="2386584"/>
            <a:ext cx="219456" cy="155448"/>
          </a:xfrm>
          <a:prstGeom prst="downArrow">
            <a:avLst/>
          </a:prstGeom>
          <a:solidFill>
            <a:srgbClr val="22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6208" y="2532888"/>
            <a:ext cx="5175504" cy="77724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2770632"/>
            <a:ext cx="48463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1E2A3A"/>
                </a:solidFill>
                <a:latin typeface="Microsoft YaHei"/>
              </a:rPr>
              <a:t>2) ASR转写并抽取字段（部位/强度/诱因/疗效）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705088" y="3319272"/>
            <a:ext cx="219456" cy="155448"/>
          </a:xfrm>
          <a:prstGeom prst="downArrow">
            <a:avLst/>
          </a:prstGeom>
          <a:solidFill>
            <a:srgbClr val="22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36208" y="3465576"/>
            <a:ext cx="5175504" cy="77724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03320"/>
            <a:ext cx="48463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1E2A3A"/>
                </a:solidFill>
                <a:latin typeface="Microsoft YaHei"/>
              </a:rPr>
              <a:t>3) 弹出确认卡片（确认 / 修改）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8705088" y="4251960"/>
            <a:ext cx="219456" cy="155448"/>
          </a:xfrm>
          <a:prstGeom prst="downArrow">
            <a:avLst/>
          </a:prstGeom>
          <a:solidFill>
            <a:srgbClr val="22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36208" y="4398264"/>
            <a:ext cx="5175504" cy="77724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636008"/>
            <a:ext cx="48463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1E2A3A"/>
                </a:solidFill>
                <a:latin typeface="Microsoft YaHei"/>
              </a:rPr>
              <a:t>4) 自动入库并触发后续评估与宣教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6208" y="4681728"/>
            <a:ext cx="5175504" cy="676656"/>
          </a:xfrm>
          <a:prstGeom prst="roundRect">
            <a:avLst/>
          </a:prstGeom>
          <a:solidFill>
            <a:srgbClr val="FFF4F4"/>
          </a:solidFill>
          <a:ln w="1016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4901184"/>
            <a:ext cx="48463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Microsoft YaHei"/>
              </a:rPr>
              <a:t>触发式补采集：步数骤降 / 服药后X小时 / 连续未记录 → 主动追问1句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797296"/>
            <a:ext cx="3429000" cy="420624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19" y="5925312"/>
            <a:ext cx="13258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E2A3A"/>
                </a:solidFill>
                <a:latin typeface="Microsoft YaHei"/>
              </a:rPr>
              <a:t>采集耗时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75688" y="5925312"/>
            <a:ext cx="190195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B5FA6"/>
                </a:solidFill>
                <a:latin typeface="Microsoft YaHei"/>
              </a:rPr>
              <a:t>目标≤10秒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70832" y="5797296"/>
            <a:ext cx="3429000" cy="420624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43984" y="5925312"/>
            <a:ext cx="13258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E2A3A"/>
                </a:solidFill>
                <a:latin typeface="Microsoft YaHei"/>
              </a:rPr>
              <a:t>字段结构化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88152" y="5925312"/>
            <a:ext cx="190195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2B8A9"/>
                </a:solidFill>
                <a:latin typeface="Microsoft YaHei"/>
              </a:rPr>
              <a:t>自动完成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83296" y="5797296"/>
            <a:ext cx="3429000" cy="420624"/>
          </a:xfrm>
          <a:prstGeom prst="roundRect">
            <a:avLst/>
          </a:prstGeom>
          <a:solidFill>
            <a:srgbClr val="FFF4F4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56448" y="5925312"/>
            <a:ext cx="13258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E2A3A"/>
                </a:solidFill>
                <a:latin typeface="Microsoft YaHei"/>
              </a:rPr>
              <a:t>失访召回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0616" y="5925312"/>
            <a:ext cx="190195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E65A5A"/>
                </a:solidFill>
                <a:latin typeface="Microsoft YaHei"/>
              </a:rPr>
              <a:t>状态机触发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" y="6537960"/>
            <a:ext cx="7315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D95"/>
                </a:solidFill>
                <a:latin typeface="Microsoft YaHei"/>
              </a:rPr>
              <a:t>2/4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6473952"/>
            <a:ext cx="9966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D95"/>
                </a:solidFill>
                <a:latin typeface="Microsoft YaHei"/>
              </a:rPr>
              <a:t>参考：J Med Internet Res 2020;22(9):e20283；团队访谈与问卷调研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0332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核心技术（3/4）创新二：危机预警与个性化推送（可解释、可配置、可审计）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D9E7FB"/>
                </a:solidFill>
                <a:latin typeface="Microsoft YaHei"/>
              </a:rPr>
              <a:t>规则引擎先守住安全底线，再通过个体化策略提升干预有效性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66751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60920" y="1005840"/>
            <a:ext cx="429768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15568"/>
            <a:ext cx="25603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Microsoft YaHei"/>
              </a:rPr>
              <a:t>双路径风险识别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572768"/>
            <a:ext cx="2926080" cy="1828800"/>
          </a:xfrm>
          <a:prstGeom prst="roundRect">
            <a:avLst/>
          </a:prstGeom>
          <a:solidFill>
            <a:srgbClr val="FFF4F4"/>
          </a:solidFill>
          <a:ln w="1143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19072"/>
            <a:ext cx="2670048" cy="155448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E65A5A"/>
                </a:solidFill>
                <a:latin typeface="Microsoft YaHei"/>
              </a:rPr>
              <a:t>Path A：静态阈值/突变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NRS≥8 直接触发高危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较7日均值突增≥3且当日≥6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用于急性风险即时兜底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572768"/>
            <a:ext cx="2926080" cy="1828800"/>
          </a:xfrm>
          <a:prstGeom prst="roundRect">
            <a:avLst/>
          </a:prstGeom>
          <a:solidFill>
            <a:srgbClr val="EEFBF9"/>
          </a:solidFill>
          <a:ln w="11430">
            <a:solidFill>
              <a:srgbClr val="22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0791" y="1719072"/>
            <a:ext cx="2670048" cy="155448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198F84"/>
                </a:solidFill>
                <a:latin typeface="Microsoft YaHei"/>
              </a:rPr>
              <a:t>Path B：治疗周期状态机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术后期/康复期/药物敏感期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阈值动态调整 + 连续性判定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识别慢性风险与依从性下降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286000" y="3493008"/>
            <a:ext cx="228600" cy="182880"/>
          </a:xfrm>
          <a:prstGeom prst="down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5349240" y="3493008"/>
            <a:ext cx="228600" cy="182880"/>
          </a:xfrm>
          <a:prstGeom prst="down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3749039"/>
            <a:ext cx="3520440" cy="868680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3977639"/>
            <a:ext cx="32461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>
                <a:solidFill>
                  <a:srgbClr val="2B5FA6"/>
                </a:solidFill>
                <a:latin typeface="Microsoft YaHei"/>
              </a:rPr>
              <a:t>Risk Level 1 / 2 /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224528"/>
            <a:ext cx="32461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E2A3A"/>
                </a:solidFill>
                <a:latin typeface="Microsoft YaHei"/>
              </a:rPr>
              <a:t>Action Dispatcher：通知 / 报告 / 宣教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4846320"/>
            <a:ext cx="5303520" cy="1207008"/>
          </a:xfrm>
          <a:prstGeom prst="roundRect">
            <a:avLst/>
          </a:prstGeom>
          <a:solidFill>
            <a:srgbClr val="F3F6FC"/>
          </a:solidFill>
          <a:ln w="10160">
            <a:solidFill>
              <a:srgbClr val="C3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230368"/>
            <a:ext cx="48463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E2A3A"/>
                </a:solidFill>
                <a:latin typeface="Microsoft YaHei"/>
              </a:rPr>
              <a:t>实时监听：触发器/云函数执行；
审计输出：rule_id + reason + event_time，便于复盘与优化。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1115568"/>
            <a:ext cx="25603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Microsoft YaHei"/>
              </a:rPr>
              <a:t>分级响应策略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1572768"/>
            <a:ext cx="39319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700784"/>
            <a:ext cx="1828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65A5A"/>
                </a:solidFill>
                <a:latin typeface="Microsoft YaHei"/>
              </a:rPr>
              <a:t>Level 1 高危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011680"/>
            <a:ext cx="3611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Microsoft YaHei"/>
              </a:rPr>
              <a:t>触发：NRS≥8或突增&gt;3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304288"/>
            <a:ext cx="36118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Microsoft YaHei"/>
              </a:rPr>
              <a:t>动作：强提醒 + 就医建议模板 + 紧急摘要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127248"/>
            <a:ext cx="39319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9248" y="3255264"/>
            <a:ext cx="1828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D98B16"/>
                </a:solidFill>
                <a:latin typeface="Microsoft YaHei"/>
              </a:rPr>
              <a:t>Level 2 中危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3566160"/>
            <a:ext cx="3611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Microsoft YaHei"/>
              </a:rPr>
              <a:t>触发：5-7分持续≥3天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3858768"/>
            <a:ext cx="36118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Microsoft YaHei"/>
              </a:rPr>
              <a:t>动作：建议联系医生 + 并发症注意事项推送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681728"/>
            <a:ext cx="39319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4B8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4809744"/>
            <a:ext cx="1828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B89D6"/>
                </a:solidFill>
                <a:latin typeface="Microsoft YaHei"/>
              </a:rPr>
              <a:t>Level 3 依从性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5120640"/>
            <a:ext cx="3611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Microsoft YaHei"/>
              </a:rPr>
              <a:t>触发：超过X天未记录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5413248"/>
            <a:ext cx="36118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Microsoft YaHei"/>
              </a:rPr>
              <a:t>动作：温和召回 + 24h延迟队列 + 亲情号提醒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" y="6537960"/>
            <a:ext cx="7315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D95"/>
                </a:solidFill>
                <a:latin typeface="Microsoft YaHei"/>
              </a:rPr>
              <a:t>3/4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6473952"/>
            <a:ext cx="9966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D95"/>
                </a:solidFill>
                <a:latin typeface="Microsoft YaHei"/>
              </a:rPr>
              <a:t>参考：支瑞聪等,2020；朱南希等,2022；团队预警规则设计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0332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核心技术（4/4）创新三：AI深度融合与长期壁垒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D9E7FB"/>
                </a:solidFill>
                <a:latin typeface="Microsoft YaHei"/>
              </a:rPr>
              <a:t>以“检索增强 + 脱敏治理 + 安全护栏”构建可持续迭代的技术中台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556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4160520"/>
            <a:ext cx="11155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15568"/>
            <a:ext cx="3291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Microsoft YaHei"/>
              </a:rPr>
              <a:t>AI闭环流程（时序）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2011680" cy="1389888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1828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Microsoft YaHei"/>
              </a:rPr>
              <a:t>用户提问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98648" y="2404872"/>
            <a:ext cx="91440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90088" y="1828800"/>
            <a:ext cx="2011680" cy="1389888"/>
          </a:xfrm>
          <a:prstGeom prst="roundRect">
            <a:avLst/>
          </a:prstGeom>
          <a:solidFill>
            <a:srgbClr val="FFF4F4"/>
          </a:solidFill>
          <a:ln w="1143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286000"/>
            <a:ext cx="1828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E65A5A"/>
                </a:solidFill>
                <a:latin typeface="Microsoft YaHei"/>
              </a:rPr>
              <a:t>AI网关脱敏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20056" y="2404872"/>
            <a:ext cx="91440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11496" y="1828800"/>
            <a:ext cx="2011680" cy="1389888"/>
          </a:xfrm>
          <a:prstGeom prst="roundRect">
            <a:avLst/>
          </a:prstGeom>
          <a:solidFill>
            <a:srgbClr val="EEFBF9"/>
          </a:solidFill>
          <a:ln w="11430">
            <a:solidFill>
              <a:srgbClr val="199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2936" y="2286000"/>
            <a:ext cx="1828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199085"/>
                </a:solidFill>
                <a:latin typeface="Microsoft YaHei"/>
              </a:rPr>
              <a:t>知识检索增强
(IMA知识库+平台知识库)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41464" y="2404872"/>
            <a:ext cx="91440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32904" y="1828800"/>
            <a:ext cx="2011680" cy="1389888"/>
          </a:xfrm>
          <a:prstGeom prst="roundRect">
            <a:avLst/>
          </a:prstGeom>
          <a:solidFill>
            <a:srgbClr val="FFF4F4"/>
          </a:solidFill>
          <a:ln w="1143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2286000"/>
            <a:ext cx="1828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E65A5A"/>
                </a:solidFill>
                <a:latin typeface="Microsoft YaHei"/>
              </a:rPr>
              <a:t>安全护栏与通俗化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62872" y="2404872"/>
            <a:ext cx="91440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54312" y="1828800"/>
            <a:ext cx="2011680" cy="1389888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5752" y="2286000"/>
            <a:ext cx="1828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Microsoft YaHei"/>
              </a:rPr>
              <a:t>返回短句答案+引用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337560"/>
            <a:ext cx="10424160" cy="502920"/>
          </a:xfrm>
          <a:prstGeom prst="roundRect">
            <a:avLst/>
          </a:prstGeom>
          <a:solidFill>
            <a:srgbClr val="F3F6FC"/>
          </a:solidFill>
          <a:ln w="10160">
            <a:solidFill>
              <a:srgbClr val="C3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502152"/>
            <a:ext cx="99669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80" b="0">
                <a:solidFill>
                  <a:srgbClr val="6B7D95"/>
                </a:solidFill>
                <a:latin typeface="Microsoft YaHei"/>
              </a:rPr>
              <a:t>隐私原则：用户画像与病历原文不外发；外部能力仅接收脱敏后的最小必要Query。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434840"/>
            <a:ext cx="3383280" cy="1691640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553712"/>
            <a:ext cx="3236976" cy="150876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2B5FA6"/>
                </a:solidFill>
                <a:latin typeface="Microsoft YaHei"/>
              </a:rPr>
              <a:t>壁垒1：知识资产化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指南/共识/循证内容结构化沉淀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输出带引用，可追溯可质控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专家审核保障医学可靠性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4434840"/>
            <a:ext cx="3383280" cy="1691640"/>
          </a:xfrm>
          <a:prstGeom prst="roundRect">
            <a:avLst/>
          </a:prstGeom>
          <a:solidFill>
            <a:srgbClr val="EEFBF9"/>
          </a:solidFill>
          <a:ln w="11430">
            <a:solidFill>
              <a:srgbClr val="19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553712"/>
            <a:ext cx="3236976" cy="150876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198F84"/>
                </a:solidFill>
                <a:latin typeface="Microsoft YaHei"/>
              </a:rPr>
              <a:t>壁垒2：安全可控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规则先决策，AI做解释与教育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高危场景使用固定就医模板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权限、同意、审计全链路留痕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4434840"/>
            <a:ext cx="3383280" cy="1691640"/>
          </a:xfrm>
          <a:prstGeom prst="roundRect">
            <a:avLst/>
          </a:prstGeom>
          <a:solidFill>
            <a:srgbClr val="FFF4F4"/>
          </a:solidFill>
          <a:ln w="1143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1" y="4553712"/>
            <a:ext cx="3236976" cy="150876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E65A5A"/>
                </a:solidFill>
                <a:latin typeface="Microsoft YaHei"/>
              </a:rPr>
              <a:t>壁垒3：规模化能力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云函数调度支撑高并发低运维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可扩展接入更多可穿戴平台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B2B2C路径支撑商业化推广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6144768"/>
            <a:ext cx="10881360" cy="146304"/>
          </a:xfrm>
          <a:prstGeom prst="roundRect">
            <a:avLst/>
          </a:prstGeom>
          <a:solidFill>
            <a:srgbClr val="EEF4FF"/>
          </a:solidFill>
          <a:ln w="889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6135624"/>
            <a:ext cx="102412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B5FA6"/>
                </a:solidFill>
                <a:latin typeface="Microsoft YaHei"/>
              </a:rPr>
              <a:t>结论：我们具备“技术可行 + 医疗可信 + 商业可扩”的三重成立条件。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" y="6537960"/>
            <a:ext cx="7315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D95"/>
                </a:solidFill>
                <a:latin typeface="Microsoft YaHei"/>
              </a:rPr>
              <a:t>4/4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6473952"/>
            <a:ext cx="9966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D95"/>
                </a:solidFill>
                <a:latin typeface="Microsoft YaHei"/>
              </a:rPr>
              <a:t>参考：ima.qq.com；developers.weixin.qq.com；彭进亚等,2016；朱南希等,2022；李冬,2019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