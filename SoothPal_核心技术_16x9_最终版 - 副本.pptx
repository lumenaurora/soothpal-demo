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306560" cy="47815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核心技术（1/4）技术架构总览：微信小程序 × 事件驱动 × AI中台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7726679" cy="5394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152" y="987552"/>
            <a:ext cx="31089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专业技术架构图（示意）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7324344" cy="1143000"/>
          </a:xfrm>
          <a:prstGeom prst="roundRect">
            <a:avLst/>
          </a:prstGeom>
          <a:solidFill>
            <a:srgbClr val="EEF3FB"/>
          </a:solidFill>
          <a:ln w="10160">
            <a:solidFill>
              <a:srgbClr val="C2C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43891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前端层：微信小程序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532888"/>
            <a:ext cx="7324344" cy="1143000"/>
          </a:xfrm>
          <a:prstGeom prst="roundRect">
            <a:avLst/>
          </a:prstGeom>
          <a:solidFill>
            <a:srgbClr val="E8F8F6"/>
          </a:solidFill>
          <a:ln w="10160">
            <a:solidFill>
              <a:srgbClr val="C2C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69464"/>
            <a:ext cx="43891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服务层：API网关 + 业务服务 + 事件总线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3785616"/>
            <a:ext cx="7324344" cy="1143000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C2C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22192"/>
            <a:ext cx="43891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AI层：规则引擎 + RAG + 安全护栏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5038344"/>
            <a:ext cx="7324344" cy="1143000"/>
          </a:xfrm>
          <a:prstGeom prst="roundRect">
            <a:avLst/>
          </a:prstGeom>
          <a:solidFill>
            <a:srgbClr val="F3F5FA"/>
          </a:solidFill>
          <a:ln w="10160">
            <a:solidFill>
              <a:srgbClr val="C2C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43891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数据层：MySQL / Redis / 对象存储 / 审计日志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1572768"/>
            <a:ext cx="105156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636776"/>
            <a:ext cx="960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疼痛标注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57400" y="1572768"/>
            <a:ext cx="105156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1636776"/>
            <a:ext cx="960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语音录入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46120" y="1572768"/>
            <a:ext cx="105156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636776"/>
            <a:ext cx="960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AI问答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34840" y="1572768"/>
            <a:ext cx="105156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636776"/>
            <a:ext cx="960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亲情号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2816352"/>
            <a:ext cx="137160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2871216"/>
            <a:ext cx="1280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API Gateway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514600" y="2816352"/>
            <a:ext cx="141732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2871216"/>
            <a:ext cx="1325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记录/评估服务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0" y="2816352"/>
            <a:ext cx="128016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871216"/>
            <a:ext cx="1188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事件总线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4400" y="4069080"/>
            <a:ext cx="15544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23944"/>
            <a:ext cx="1463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6B6B"/>
                </a:solidFill>
                <a:latin typeface="微软雅黑" panose="020B0503020204020204" charset="-122"/>
              </a:rPr>
              <a:t>规则引擎</a:t>
            </a:r>
            <a:endParaRPr sz="10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697480" y="4069080"/>
            <a:ext cx="141732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4123944"/>
            <a:ext cx="1325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6B6B"/>
                </a:solidFill>
                <a:latin typeface="微软雅黑" panose="020B0503020204020204" charset="-122"/>
              </a:rPr>
              <a:t>RAG检索</a:t>
            </a:r>
            <a:endParaRPr sz="10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343400" y="4069080"/>
            <a:ext cx="13258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123944"/>
            <a:ext cx="1234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6B6B"/>
                </a:solidFill>
                <a:latin typeface="微软雅黑" panose="020B0503020204020204" charset="-122"/>
              </a:rPr>
              <a:t>安全护栏</a:t>
            </a:r>
            <a:endParaRPr sz="10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14400" y="5321808"/>
            <a:ext cx="141732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A9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376672"/>
            <a:ext cx="1325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MySQL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514600" y="5321808"/>
            <a:ext cx="141732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A9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5376672"/>
            <a:ext cx="1325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Redis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114800" y="5321808"/>
            <a:ext cx="173736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A9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5376672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对象存储/审计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6217920" y="1664208"/>
            <a:ext cx="320040" cy="246888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6217920" y="2907792"/>
            <a:ext cx="320040" cy="246888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6217920" y="4169663"/>
            <a:ext cx="320040" cy="246888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2029968"/>
            <a:ext cx="13258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事件驱动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69280" y="3273552"/>
            <a:ext cx="13258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规则+AI协同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69280" y="4526280"/>
            <a:ext cx="13258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可追溯落库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183879" y="914400"/>
            <a:ext cx="365760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6440" y="1369060"/>
            <a:ext cx="3383280" cy="25146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700" b="1">
                <a:solidFill>
                  <a:srgbClr val="2B5FA6"/>
                </a:solidFill>
                <a:latin typeface="微软雅黑" panose="020B0503020204020204" charset="-122"/>
              </a:rPr>
              <a:t>核心技术亮点</a:t>
            </a:r>
            <a:endParaRPr sz="1700" b="1">
              <a:solidFill>
                <a:srgbClr val="2B5FA6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事件驱动闭环：记录即触发评估、预警、推送与周报任务。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医疗安全优先：规则/量表/状态机先决策，AI负责通俗化解释。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AI深度融合：语音结构化、RAG证据检索、报告自动生成。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703320"/>
            <a:ext cx="3383280" cy="14173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500" b="1">
                <a:solidFill>
                  <a:srgbClr val="4ECDC4"/>
                </a:solidFill>
                <a:latin typeface="微软雅黑" panose="020B0503020204020204" charset="-122"/>
              </a:rPr>
              <a:t>落地形态（MVP）</a:t>
            </a:r>
            <a:endParaRPr sz="1500" b="1">
              <a:solidFill>
                <a:srgbClr val="4ECDC4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微信小程序 + 云托管/Serverless：低运维、快迭代。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Demo阶段优先开放：微信运动 + 订阅消息 + ASR。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5158232"/>
            <a:ext cx="3246120" cy="822960"/>
          </a:xfrm>
          <a:prstGeom prst="roundRect">
            <a:avLst/>
          </a:prstGeom>
          <a:solidFill>
            <a:srgbClr val="EFF8F7"/>
          </a:solidFill>
          <a:ln w="1397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5275072"/>
            <a:ext cx="29260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工程口径更新：IMA 可作为扩展接口位；
生产方案建议“本地可控RAG优先，外部检索补充”。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0040" y="6528816"/>
            <a:ext cx="731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1/4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011680" y="6473952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参考：developers.weixin.qq.com；ima.qq.com；Tencent/WeKnora(README_CN)；J Med Internet Res 2020;22(9):e20283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132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核心技术（2/4）创新一：零负担数据采集（破解高失访）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D9E8FF"/>
                </a:solidFill>
                <a:latin typeface="微软雅黑" panose="020B0503020204020204" charset="-122"/>
              </a:rPr>
              <a:t>目标：把“随访填表”改造成“10秒打卡 + AI自动结构化 + 一键确认”</a:t>
            </a:r>
            <a:endParaRPr sz="1200" b="0">
              <a:solidFill>
                <a:srgbClr val="D9E8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80644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25603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2D人体标注交互示意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2194560" cy="3017520"/>
          </a:xfrm>
          <a:prstGeom prst="roundRect">
            <a:avLst/>
          </a:prstGeom>
          <a:solidFill>
            <a:srgbClr val="FBFDFF"/>
          </a:solidFill>
          <a:ln w="11430">
            <a:solidFill>
              <a:srgbClr val="C9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99232" y="1444752"/>
            <a:ext cx="2194560" cy="3017520"/>
          </a:xfrm>
          <a:prstGeom prst="roundRect">
            <a:avLst/>
          </a:prstGeom>
          <a:solidFill>
            <a:srgbClr val="FBFDFF"/>
          </a:solidFill>
          <a:ln w="11430">
            <a:solidFill>
              <a:srgbClr val="C9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54480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前视图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9312" y="1554480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后视图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45920" y="201168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251460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45920" y="301752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356616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57400" y="356616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59352" y="201168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9352" y="251460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59352" y="301752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47872" y="356616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70832" y="3566160"/>
            <a:ext cx="256032" cy="256032"/>
          </a:xfrm>
          <a:prstGeom prst="ellipse">
            <a:avLst/>
          </a:prstGeom>
          <a:solidFill>
            <a:srgbClr val="D6EEFA"/>
          </a:solidFill>
          <a:ln w="12700">
            <a:solidFill>
              <a:srgbClr val="B3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54480" y="2880360"/>
            <a:ext cx="457200" cy="457200"/>
          </a:xfrm>
          <a:prstGeom prst="ellipse">
            <a:avLst/>
          </a:prstGeom>
          <a:solidFill>
            <a:srgbClr val="FFA89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0" y="2816352"/>
            <a:ext cx="594360" cy="594360"/>
          </a:xfrm>
          <a:prstGeom prst="ellipse">
            <a:avLst/>
          </a:prstGeom>
          <a:solidFill>
            <a:srgbClr val="FF7F7F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53712"/>
            <a:ext cx="5212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说明：点选区域 + 涂抹热区（颜色深浅=强度），只存region_id与评分，不存人体图片。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914400"/>
            <a:ext cx="548640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024128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AI快速采集流程（语音→结构化→确认）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0" y="1426464"/>
            <a:ext cx="5029200" cy="658368"/>
          </a:xfrm>
          <a:prstGeom prst="roundRect">
            <a:avLst/>
          </a:prstGeom>
          <a:solidFill>
            <a:srgbClr val="F2F8FF"/>
          </a:solidFill>
          <a:ln w="10160">
            <a:solidFill>
              <a:srgbClr val="C3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563624"/>
            <a:ext cx="47548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1) 用户语音：今天腰痛7分，走路加重，吃药后稍缓解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869680" y="2084832"/>
            <a:ext cx="292608" cy="192024"/>
          </a:xfrm>
          <a:prstGeom prst="downArrow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2304288"/>
            <a:ext cx="5029200" cy="658368"/>
          </a:xfrm>
          <a:prstGeom prst="roundRect">
            <a:avLst/>
          </a:prstGeom>
          <a:solidFill>
            <a:srgbClr val="F1FDFB"/>
          </a:solidFill>
          <a:ln w="10160">
            <a:solidFill>
              <a:srgbClr val="C3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441448"/>
            <a:ext cx="47548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2) ASR转写 + 字段抽取：部位/强度/诱因/用药/疗效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8869680" y="2962656"/>
            <a:ext cx="292608" cy="192024"/>
          </a:xfrm>
          <a:prstGeom prst="downArrow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3182112"/>
            <a:ext cx="5029200" cy="658368"/>
          </a:xfrm>
          <a:prstGeom prst="roundRect">
            <a:avLst/>
          </a:prstGeom>
          <a:solidFill>
            <a:srgbClr val="F2F8FF"/>
          </a:solidFill>
          <a:ln w="10160">
            <a:solidFill>
              <a:srgbClr val="C3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319272"/>
            <a:ext cx="47548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3) 弹出确认卡片：确认 / 修改（大按钮，低阅读负担）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8869680" y="3840480"/>
            <a:ext cx="292608" cy="192024"/>
          </a:xfrm>
          <a:prstGeom prst="downArrow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4059935"/>
            <a:ext cx="5029200" cy="658368"/>
          </a:xfrm>
          <a:prstGeom prst="roundRect">
            <a:avLst/>
          </a:prstGeom>
          <a:solidFill>
            <a:srgbClr val="F1FDFB"/>
          </a:solidFill>
          <a:ln w="10160">
            <a:solidFill>
              <a:srgbClr val="C3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97096"/>
            <a:ext cx="47548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4) 写入时间线并触发：风险评估 + 个体化宣教推送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80" y="4224528"/>
            <a:ext cx="5029200" cy="658368"/>
          </a:xfrm>
          <a:prstGeom prst="roundRect">
            <a:avLst/>
          </a:prstGeom>
          <a:solidFill>
            <a:srgbClr val="FFF4F4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315968"/>
            <a:ext cx="475488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触发补采集示例：步数骤降 / 服药后X小时 / 连续未记录 → 主动追问1句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65760" y="5120640"/>
            <a:ext cx="11475720" cy="12070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193792"/>
            <a:ext cx="2926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传统随访 vs 舒伴随访（关键差异）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02920" y="5440680"/>
          <a:ext cx="11155680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754880"/>
              </a:tblGrid>
              <a:tr h="16093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关键数据</a:t>
                      </a:r>
                      <a:endParaRPr sz="1050" b="1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传统问卷/人工随访</a:t>
                      </a:r>
                      <a:endParaRPr sz="1050" b="1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舒伴 SoothPal（零负担采集）</a:t>
                      </a:r>
                      <a:endParaRPr sz="1050" b="1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9F0FB"/>
                    </a:solidFill>
                  </a:tcPr>
                </a:tc>
              </a:tr>
              <a:tr h="1609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疼痛部位/强度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每日问卷 + 文字输入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2D点选/涂抹 + 10秒打卡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CFA"/>
                    </a:solidFill>
                  </a:tcPr>
                </a:tc>
              </a:tr>
              <a:tr h="1609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功能影响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多题量表，易疲劳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步数触发 + 1次点击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CFA"/>
                    </a:solidFill>
                  </a:tcPr>
                </a:tc>
              </a:tr>
              <a:tr h="1609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用药疗效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复诊回忆偏差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服药后自动追踪 + AI确认卡片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CFA"/>
                    </a:solidFill>
                  </a:tcPr>
                </a:tc>
              </a:tr>
              <a:tr h="1609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失访管理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人工催访成本高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D3D"/>
                          </a:solidFill>
                          <a:latin typeface="微软雅黑" panose="020B0503020204020204" charset="-122"/>
                        </a:rPr>
                        <a:t>状态机召回 + 亲情号联动</a:t>
                      </a:r>
                      <a:endParaRPr sz="1000" b="0">
                        <a:solidFill>
                          <a:srgbClr val="1F2D3D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CFA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20040" y="6528816"/>
            <a:ext cx="731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2/4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1680" y="6473952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参考：J Med Internet Res 2020;22(9):e20283（高失访问题）；团队调研与既往研究共识（30-60%区间用于问题界定）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132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核心技术（3/4）创新二：危机预警与个性化推送（可解释、可配置、可审计）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D9E8FF"/>
                </a:solidFill>
                <a:latin typeface="微软雅黑" panose="020B0503020204020204" charset="-122"/>
              </a:rPr>
              <a:t>目标：突出医疗可靠性——规则底线 + 状态机个体化 + 分级响应 + 限频推送</a:t>
            </a:r>
            <a:endParaRPr sz="1200" b="0">
              <a:solidFill>
                <a:srgbClr val="D9E8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649224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4206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双路径预警逻辑图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743200" cy="1938528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377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 panose="020B0503020204020204" charset="-122"/>
              </a:rPr>
              <a:t>Path A：静态阈值/突变（急性）</a:t>
            </a:r>
            <a:endParaRPr sz="11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2402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• NRS ≥ 8
• 当日较7日均值突增 ≥ 3 且当日 ≥ 6
• 优先级最高，立即触发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39312" y="1417320"/>
            <a:ext cx="2926080" cy="1938528"/>
          </a:xfrm>
          <a:prstGeom prst="roundRect">
            <a:avLst/>
          </a:prstGeom>
          <a:solidFill>
            <a:srgbClr val="F0FAF9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1536192"/>
            <a:ext cx="25603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179D95"/>
                </a:solidFill>
                <a:latin typeface="微软雅黑" panose="020B0503020204020204" charset="-122"/>
              </a:rPr>
              <a:t>Path B：治疗周期状态机（慢性）</a:t>
            </a:r>
            <a:endParaRPr sz="1100" b="1">
              <a:solidFill>
                <a:srgbClr val="179D9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1847088"/>
            <a:ext cx="2468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• 术后第1周 / 康复期 / 药物敏感期
• 阈值动态调整 + 连续性判定
• 识别持续高痛与依从性下降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697480" y="3456432"/>
            <a:ext cx="292608" cy="246888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983480" y="3456432"/>
            <a:ext cx="292608" cy="246888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3794760"/>
            <a:ext cx="3200400" cy="960120"/>
          </a:xfrm>
          <a:prstGeom prst="roundRect">
            <a:avLst/>
          </a:prstGeom>
          <a:solidFill>
            <a:srgbClr val="ECF2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941063"/>
            <a:ext cx="29260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Risk Level 1/2/3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8840" y="4224528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Action Dispatcher：通知 / 报告 / 宣教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3456432" y="4791456"/>
            <a:ext cx="292608" cy="22860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91640" y="5047488"/>
            <a:ext cx="3840480" cy="987552"/>
          </a:xfrm>
          <a:prstGeom prst="roundRect">
            <a:avLst/>
          </a:prstGeom>
          <a:solidFill>
            <a:srgbClr val="F8FCFF"/>
          </a:solidFill>
          <a:ln w="13970">
            <a:solidFill>
              <a:srgbClr val="B7C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5193792"/>
            <a:ext cx="3566160" cy="7132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执行方式：触发器/云函数实时计算，
输出携带 rule_id + reason，支持审计复盘。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040880" y="914400"/>
            <a:ext cx="480060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1024128"/>
            <a:ext cx="2651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分级响应（示例）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69480" y="1371600"/>
            <a:ext cx="4343400" cy="1115568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444752"/>
            <a:ext cx="1600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 panose="020B0503020204020204" charset="-122"/>
              </a:rPr>
              <a:t>Level 1 高危</a:t>
            </a:r>
            <a:endParaRPr sz="11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1673352"/>
            <a:ext cx="4069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触发：NRS≥8 或突增&gt;3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06640" y="1901952"/>
            <a:ext cx="40690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动作：强提醒 + 就医模板 + 紧急摘要 + (授权)亲情号通知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69480" y="2606040"/>
            <a:ext cx="4343400" cy="1115568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679192"/>
            <a:ext cx="1600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E68A00"/>
                </a:solidFill>
                <a:latin typeface="微软雅黑" panose="020B0503020204020204" charset="-122"/>
              </a:rPr>
              <a:t>Level 2 中危</a:t>
            </a:r>
            <a:endParaRPr sz="1100" b="1">
              <a:solidFill>
                <a:srgbClr val="E68A0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06640" y="2907792"/>
            <a:ext cx="4069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触发：5-7分持续≥3天/阶段异常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06640" y="3136392"/>
            <a:ext cx="40690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动作：建议联系医生 + 并发症/康复注意事项推送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269480" y="3840480"/>
            <a:ext cx="4343400" cy="1115568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4C8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913632"/>
            <a:ext cx="1600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4C8DD6"/>
                </a:solidFill>
                <a:latin typeface="微软雅黑" panose="020B0503020204020204" charset="-122"/>
              </a:rPr>
              <a:t>Level 3 依从性</a:t>
            </a:r>
            <a:endParaRPr sz="1100" b="1">
              <a:solidFill>
                <a:srgbClr val="4C8DD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06640" y="4142232"/>
            <a:ext cx="4069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触发：超过X天未记录且未暂停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06640" y="4370832"/>
            <a:ext cx="40690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微软雅黑" panose="020B0503020204020204" charset="-122"/>
              </a:rPr>
              <a:t>动作：温和召回 + 24h延迟队列 + 亲情号兜底</a:t>
            </a:r>
            <a:endParaRPr sz="10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269480" y="5120640"/>
            <a:ext cx="4343400" cy="914400"/>
          </a:xfrm>
          <a:prstGeom prst="roundRect">
            <a:avLst/>
          </a:prstGeom>
          <a:solidFill>
            <a:srgbClr val="F1FDFB"/>
          </a:solidFill>
          <a:ln w="1397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5230368"/>
            <a:ext cx="4069080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推送混合策略：
日常按画像匹配，危机消息置顶覆盖常规科普；
全程去重 + 限频，减少打扰并提升留存。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" y="6528816"/>
            <a:ext cx="731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3/4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11680" y="6473952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参考：支瑞聪等,2020；朱南希等,2022；团队规则引擎设计稿（可配置阈值+状态机）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132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核心技术（4/4）创新三：AI深度融合（RAG+脱敏检索+安全护栏）与可行性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D9E8FF"/>
                </a:solidFill>
                <a:latin typeface="微软雅黑" panose="020B0503020204020204" charset="-122"/>
              </a:rPr>
              <a:t>目标：给出可工程落地且可答辩的“隐私保护+可引用输出”方案（Demo→试点）</a:t>
            </a:r>
            <a:endParaRPr sz="1200" b="0">
              <a:solidFill>
                <a:srgbClr val="D9E8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147572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4114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RAG/Agent 时序流程（上：泳道图）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72800" cy="530352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D3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20116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2B5FA6"/>
                </a:solidFill>
                <a:latin typeface="微软雅黑" panose="020B0503020204020204" charset="-122"/>
              </a:rPr>
              <a:t>小程序Agent</a:t>
            </a:r>
            <a:endParaRPr sz="10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972800" cy="530352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D3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03704"/>
            <a:ext cx="20116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2B5FA6"/>
                </a:solidFill>
                <a:latin typeface="微软雅黑" panose="020B0503020204020204" charset="-122"/>
              </a:rPr>
              <a:t>AI网关（后端）</a:t>
            </a:r>
            <a:endParaRPr sz="10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10972800" cy="530352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D3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20116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2B5FA6"/>
                </a:solidFill>
                <a:latin typeface="微软雅黑" panose="020B0503020204020204" charset="-122"/>
              </a:rPr>
              <a:t>知识检索层（本地RAG优先）</a:t>
            </a:r>
            <a:endParaRPr sz="10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51760" y="1481328"/>
            <a:ext cx="1554480" cy="274320"/>
          </a:xfrm>
          <a:prstGeom prst="roundRect">
            <a:avLst/>
          </a:prstGeom>
          <a:solidFill>
            <a:srgbClr val="E9F0FB"/>
          </a:solidFill>
          <a:ln w="1016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1536192"/>
            <a:ext cx="14173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50" b="0">
                <a:solidFill>
                  <a:srgbClr val="1F2D3D"/>
                </a:solidFill>
                <a:latin typeface="微软雅黑" panose="020B0503020204020204" charset="-122"/>
              </a:rPr>
              <a:t>接收用户提问</a:t>
            </a:r>
            <a:endParaRPr sz="9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26280" y="2167128"/>
            <a:ext cx="1737360" cy="274320"/>
          </a:xfrm>
          <a:prstGeom prst="roundRect">
            <a:avLst/>
          </a:prstGeom>
          <a:solidFill>
            <a:srgbClr val="FFF3F3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221992"/>
            <a:ext cx="16002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50" b="1">
                <a:solidFill>
                  <a:srgbClr val="FF6B6B"/>
                </a:solidFill>
                <a:latin typeface="微软雅黑" panose="020B0503020204020204" charset="-122"/>
              </a:rPr>
              <a:t>脱敏/最小必要Query</a:t>
            </a:r>
            <a:endParaRPr sz="95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29400" y="2852928"/>
            <a:ext cx="1874519" cy="274320"/>
          </a:xfrm>
          <a:prstGeom prst="roundRect">
            <a:avLst/>
          </a:prstGeom>
          <a:solidFill>
            <a:srgbClr val="F0FBFA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907792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50" b="0">
                <a:solidFill>
                  <a:srgbClr val="1F2D3D"/>
                </a:solidFill>
                <a:latin typeface="微软雅黑" panose="020B0503020204020204" charset="-122"/>
              </a:rPr>
              <a:t>检索证据片段（带来源）</a:t>
            </a:r>
            <a:endParaRPr sz="9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23960" y="2167128"/>
            <a:ext cx="1965960" cy="274320"/>
          </a:xfrm>
          <a:prstGeom prst="roundRect">
            <a:avLst/>
          </a:prstGeom>
          <a:solidFill>
            <a:srgbClr val="FFF3F3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2221992"/>
            <a:ext cx="1828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50" b="1">
                <a:solidFill>
                  <a:srgbClr val="FF6B6B"/>
                </a:solidFill>
                <a:latin typeface="微软雅黑" panose="020B0503020204020204" charset="-122"/>
              </a:rPr>
              <a:t>安全护栏+通俗化生成</a:t>
            </a:r>
            <a:endParaRPr sz="95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543800" y="1481328"/>
            <a:ext cx="1874519" cy="274320"/>
          </a:xfrm>
          <a:prstGeom prst="roundRect">
            <a:avLst/>
          </a:prstGeom>
          <a:solidFill>
            <a:srgbClr val="E9F0FB"/>
          </a:solidFill>
          <a:ln w="1016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1536192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50" b="0">
                <a:solidFill>
                  <a:srgbClr val="1F2D3D"/>
                </a:solidFill>
                <a:latin typeface="微软雅黑" panose="020B0503020204020204" charset="-122"/>
              </a:rPr>
              <a:t>返回短句答案+引用</a:t>
            </a:r>
            <a:endParaRPr sz="9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224528" y="1527048"/>
            <a:ext cx="256032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291072" y="2212848"/>
            <a:ext cx="27432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549640" y="2898648"/>
            <a:ext cx="219456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9784080" y="1527048"/>
            <a:ext cx="347472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2788920" y="2651760"/>
            <a:ext cx="475488" cy="320040"/>
          </a:xfrm>
          <a:prstGeom prst="hexag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724912"/>
            <a:ext cx="384048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微软雅黑" panose="020B0503020204020204" charset="-122"/>
              </a:rPr>
              <a:t>隐私</a:t>
            </a:r>
            <a:endParaRPr sz="8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Hexagon 28"/>
          <p:cNvSpPr/>
          <p:nvPr/>
        </p:nvSpPr>
        <p:spPr>
          <a:xfrm>
            <a:off x="10058400" y="2651760"/>
            <a:ext cx="475488" cy="320040"/>
          </a:xfrm>
          <a:prstGeom prst="hexag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724912"/>
            <a:ext cx="384048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微软雅黑" panose="020B0503020204020204" charset="-122"/>
              </a:rPr>
              <a:t>护栏</a:t>
            </a:r>
            <a:endParaRPr sz="8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333756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50" b="0">
                <a:solidFill>
                  <a:srgbClr val="788699"/>
                </a:solidFill>
                <a:latin typeface="微软雅黑" panose="020B0503020204020204" charset="-122"/>
              </a:rPr>
              <a:t>隐私不出域：用户画像、原始病历附件不外发；外部检索仅接收脱敏后的最小必要Query。</a:t>
            </a:r>
            <a:endParaRPr sz="105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65760" y="4251960"/>
            <a:ext cx="11475720" cy="2039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498848"/>
            <a:ext cx="3611880" cy="1600200"/>
          </a:xfrm>
          <a:prstGeom prst="roundRect">
            <a:avLst/>
          </a:prstGeom>
          <a:solidFill>
            <a:srgbClr val="F1F7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608576"/>
            <a:ext cx="3337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知识库资产化（专业壁垒）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6384" y="4873752"/>
            <a:ext cx="324612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• 指南/共识/循证/医生科普结构化切片
• 向量检索 + 版本管理 + 专家审核
• 输出带引用，可追溯可质控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07992" y="4498848"/>
            <a:ext cx="3611880" cy="1600200"/>
          </a:xfrm>
          <a:prstGeom prst="roundRect">
            <a:avLst/>
          </a:prstGeom>
          <a:solidFill>
            <a:srgbClr val="F2FCFA"/>
          </a:solidFill>
          <a:ln w="1143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36008" y="4608576"/>
            <a:ext cx="3337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>
                <a:solidFill>
                  <a:srgbClr val="1E9890"/>
                </a:solidFill>
                <a:latin typeface="微软雅黑" panose="020B0503020204020204" charset="-122"/>
              </a:rPr>
              <a:t>安全合规护栏（医疗可控）</a:t>
            </a:r>
            <a:endParaRPr sz="1200" b="1">
              <a:solidFill>
                <a:srgbClr val="1E989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54296" y="4873752"/>
            <a:ext cx="324612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• 先规则后生成：风险引擎判定“该不该做”
• AI负责“怎么说/怎么教”，禁止处方剂量建议
• 同意台账 + 权限控制 + 审计留痕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75904" y="4498848"/>
            <a:ext cx="3611880" cy="1600200"/>
          </a:xfrm>
          <a:prstGeom prst="roundRect">
            <a:avLst/>
          </a:prstGeom>
          <a:solidFill>
            <a:srgbClr val="FFF5F5"/>
          </a:solidFill>
          <a:ln w="1143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4608576"/>
            <a:ext cx="3337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 panose="020B0503020204020204" charset="-122"/>
              </a:rPr>
              <a:t>成熟度与扩展（Demo→试点）</a:t>
            </a:r>
            <a:endParaRPr sz="12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22208" y="4873752"/>
            <a:ext cx="324612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 panose="020B0503020204020204" charset="-122"/>
              </a:rPr>
              <a:t>• Demo：语音结构化、RAG引用回答、分级预警、亲情号通知
• 扩展：更多可穿戴与健康平台数据接入
• 可选：IMA Skill接口位（以官方能力开放节奏为准）</a:t>
            </a:r>
            <a:endParaRPr sz="105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6528816"/>
            <a:ext cx="731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788699"/>
                </a:solidFill>
                <a:latin typeface="微软雅黑" panose="020B0503020204020204" charset="-122"/>
              </a:rPr>
              <a:t>4/4</a:t>
            </a:r>
            <a:endParaRPr sz="10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1680" y="6473952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>
                <a:solidFill>
                  <a:srgbClr val="788699"/>
                </a:solidFill>
                <a:latin typeface="微软雅黑" panose="020B0503020204020204" charset="-122"/>
              </a:rPr>
              <a:t>参考：ima.qq.com/agent-interface；Tencent/WeKnora(README_CN, API文档)；彭进亚等2016；朱南希等2022；李冬2019</a:t>
            </a:r>
            <a:endParaRPr sz="900" b="0">
              <a:solidFill>
                <a:srgbClr val="78869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2176</Words>
  <Application>WPS 演示</Application>
  <PresentationFormat>On-screen Show (4:3)</PresentationFormat>
  <Paragraphs>209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刘昌宁</cp:lastModifiedBy>
  <cp:revision>2</cp:revision>
  <dcterms:created xsi:type="dcterms:W3CDTF">2013-01-27T09:14:00Z</dcterms:created>
  <dcterms:modified xsi:type="dcterms:W3CDTF">2026-04-12T13:29:26Z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302B4A5F95C140728BF0C31616B88B92_12</vt:lpwstr>
  </property>
  <property fmtid="{D5CDD505-2E9C-101B-9397-08002B2CF9AE}" pid="3" name="KSOProductBuildVer">
    <vt:lpwstr>2052-12.1.0.24655</vt:lpwstr>
  </property>
</Properties>
</file>