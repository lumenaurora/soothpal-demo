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2946"/>
            <a:ext cx="86868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核心技术（1/4）总体架构：低负担采集 × 可解释预警 × AI中台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7818120" cy="5321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928" y="1232915"/>
            <a:ext cx="29260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技术闭环（采集-评估-干预-随访）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325880" cy="12344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84248"/>
            <a:ext cx="11795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零负担采集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19" y="2313432"/>
            <a:ext cx="1179576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F2D3D"/>
                </a:solidFill>
                <a:latin typeface="微软雅黑" panose="020B0503020204020204" charset="-122"/>
              </a:rPr>
              <a:t>2D点选/语音打卡
自动补采集</a:t>
            </a:r>
            <a:endParaRPr sz="10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011679" y="2386584"/>
            <a:ext cx="146304" cy="182880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85415" y="1874519"/>
            <a:ext cx="1325880" cy="12344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1984248"/>
            <a:ext cx="11795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数据治理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8568" y="2313432"/>
            <a:ext cx="1179576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F2D3D"/>
                </a:solidFill>
                <a:latin typeface="微软雅黑" panose="020B0503020204020204" charset="-122"/>
              </a:rPr>
              <a:t>结构化档案
时间线事件</a:t>
            </a:r>
            <a:endParaRPr sz="10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538727" y="2386584"/>
            <a:ext cx="146304" cy="182880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2463" y="1874519"/>
            <a:ext cx="1325880" cy="1234440"/>
          </a:xfrm>
          <a:prstGeom prst="roundRect">
            <a:avLst/>
          </a:prstGeom>
          <a:solidFill>
            <a:srgbClr val="FFF3F3"/>
          </a:solidFill>
          <a:ln w="10160"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1984248"/>
            <a:ext cx="11795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风险评估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85615" y="2313432"/>
            <a:ext cx="1179576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F2D3D"/>
                </a:solidFill>
                <a:latin typeface="微软雅黑" panose="020B0503020204020204" charset="-122"/>
              </a:rPr>
              <a:t>阈值+突变+状态机
rule_id可审计</a:t>
            </a:r>
            <a:endParaRPr sz="10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065776" y="2386584"/>
            <a:ext cx="146304" cy="182880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9512" y="1874519"/>
            <a:ext cx="1325880" cy="12344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1984248"/>
            <a:ext cx="11795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AI引擎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2664" y="2313432"/>
            <a:ext cx="1179576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F2D3D"/>
                </a:solidFill>
                <a:latin typeface="微软雅黑" panose="020B0503020204020204" charset="-122"/>
              </a:rPr>
              <a:t>RAG证据检索
通俗化生成</a:t>
            </a:r>
            <a:endParaRPr sz="10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6592824" y="2386584"/>
            <a:ext cx="146304" cy="182880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59" y="1874519"/>
            <a:ext cx="1325880" cy="12344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1984248"/>
            <a:ext cx="11795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触达闭环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39712" y="2313432"/>
            <a:ext cx="1179576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F2D3D"/>
                </a:solidFill>
                <a:latin typeface="微软雅黑" panose="020B0503020204020204" charset="-122"/>
              </a:rPr>
              <a:t>分级提醒/周报
亲情号联动</a:t>
            </a:r>
            <a:endParaRPr sz="10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3730752"/>
            <a:ext cx="7406640" cy="2331720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C5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840480"/>
            <a:ext cx="228600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2B5FA6"/>
                </a:solidFill>
                <a:latin typeface="微软雅黑" panose="020B0503020204020204" charset="-122"/>
              </a:rPr>
              <a:t>技术栈</a:t>
            </a:r>
            <a:endParaRPr sz="12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160520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42816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微信小程序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002536" y="4160520"/>
            <a:ext cx="150876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8255" y="4242816"/>
            <a:ext cx="141731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云托管/Serverless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639312" y="4160520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242816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MySQL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864608" y="4160520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4242816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Redis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089904" y="4160520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4242816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对象存储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718304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ASR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002536" y="4636008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48255" y="4718304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RAG知识库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227832" y="4636008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1" y="4718304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订阅消息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453127" y="4636008"/>
            <a:ext cx="10972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FC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7" y="4718304"/>
            <a:ext cx="10058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1F2D3D"/>
                </a:solidFill>
                <a:latin typeface="微软雅黑" panose="020B0503020204020204" charset="-122"/>
              </a:rPr>
              <a:t>审计日志</a:t>
            </a:r>
            <a:endParaRPr sz="9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366760" y="960120"/>
            <a:ext cx="3456432" cy="5321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3063240"/>
            <a:ext cx="3127248" cy="1417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25B5A9"/>
                </a:solidFill>
                <a:latin typeface="微软雅黑" panose="020B0503020204020204" charset="-122"/>
              </a:rPr>
              <a:t>差异化壁垒</a:t>
            </a:r>
            <a:endParaRPr sz="1400" b="1">
              <a:solidFill>
                <a:srgbClr val="25B5A9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低负担采集带来更高随访完成率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可解释预警与审计链条适配医疗场景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22208" y="4572000"/>
            <a:ext cx="3127248" cy="1463040"/>
          </a:xfrm>
          <a:prstGeom prst="roundRect">
            <a:avLst/>
          </a:prstGeom>
          <a:solidFill>
            <a:srgbClr val="F1F8FF"/>
          </a:solidFill>
          <a:ln w="10160">
            <a:solidFill>
              <a:srgbClr val="ACB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2" y="4727448"/>
            <a:ext cx="28346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一句话总结：
不是“聊天型健康App”，
而是“可追溯、可干预、可规模化”的数字疼痛管理底座。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0040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1/4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28800" y="6473952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E7F97"/>
                </a:solidFill>
                <a:latin typeface="微软雅黑" panose="020B0503020204020204" charset="-122"/>
              </a:rPr>
              <a:t>参考：developers.weixin.qq.com；ima.qq.com；J Med Internet Res 2020;22(9):e20283</a:t>
            </a:r>
            <a:endParaRPr sz="9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9446"/>
            <a:ext cx="86868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核心技术（2/4）创新一：零负担数据采集（10秒完成关键记录）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715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577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578" y="1051560"/>
            <a:ext cx="29260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交互入口：2D人体点选/涂抹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1481328"/>
            <a:ext cx="1993392" cy="3520440"/>
          </a:xfrm>
          <a:prstGeom prst="roundRect">
            <a:avLst/>
          </a:prstGeom>
          <a:solidFill>
            <a:srgbClr val="FBFDFF"/>
          </a:solidFill>
          <a:ln w="11430">
            <a:solidFill>
              <a:srgbClr val="BBC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前视图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54680" y="1481328"/>
            <a:ext cx="1993392" cy="3520440"/>
          </a:xfrm>
          <a:prstGeom prst="roundRect">
            <a:avLst/>
          </a:prstGeom>
          <a:solidFill>
            <a:srgbClr val="FBFDFF"/>
          </a:solidFill>
          <a:ln w="11430">
            <a:solidFill>
              <a:srgbClr val="BBC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后视图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783080" y="214884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265176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31546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38404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8404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23360" y="214884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0" y="265176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1546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38404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840480"/>
            <a:ext cx="256032" cy="256032"/>
          </a:xfrm>
          <a:prstGeom prst="ellipse">
            <a:avLst/>
          </a:prstGeom>
          <a:solidFill>
            <a:srgbClr val="C6E2F5"/>
          </a:solidFill>
          <a:ln>
            <a:solidFill>
              <a:srgbClr val="9B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72768" y="2926080"/>
            <a:ext cx="502920" cy="502920"/>
          </a:xfrm>
          <a:prstGeom prst="ellipse">
            <a:avLst/>
          </a:prstGeom>
          <a:solidFill>
            <a:srgbClr val="F69D94"/>
          </a:solidFill>
          <a:ln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49039" y="2834640"/>
            <a:ext cx="621792" cy="621792"/>
          </a:xfrm>
          <a:prstGeom prst="ellipse">
            <a:avLst/>
          </a:prstGeom>
          <a:solidFill>
            <a:srgbClr val="F27A7A"/>
          </a:solidFill>
          <a:ln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02352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6E7F97"/>
                </a:solidFill>
                <a:latin typeface="微软雅黑" panose="020B0503020204020204" charset="-122"/>
              </a:rPr>
              <a:t>关键点：
点选区域 + 强度滑条 + 一键保存，不要求长文本输入。</a:t>
            </a:r>
            <a:endParaRPr sz="105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3258" y="1051560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AI结构化采集流程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10528" y="1508760"/>
            <a:ext cx="5074920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E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1728216"/>
            <a:ext cx="4754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30" b="0">
                <a:solidFill>
                  <a:srgbClr val="1F2D3D"/>
                </a:solidFill>
                <a:latin typeface="微软雅黑" panose="020B0503020204020204" charset="-122"/>
              </a:rPr>
              <a:t>1) 用户一句话描述疼痛与用药</a:t>
            </a:r>
            <a:endParaRPr sz="113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869680" y="2295144"/>
            <a:ext cx="237744" cy="182880"/>
          </a:xfrm>
          <a:prstGeom prst="downArrow">
            <a:avLst/>
          </a:prstGeom>
          <a:solidFill>
            <a:srgbClr val="25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0528" y="2468880"/>
            <a:ext cx="5074920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E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88336"/>
            <a:ext cx="4754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30" b="0">
                <a:solidFill>
                  <a:srgbClr val="1F2D3D"/>
                </a:solidFill>
                <a:latin typeface="微软雅黑" panose="020B0503020204020204" charset="-122"/>
              </a:rPr>
              <a:t>2) ASR转写 + 字段抽取（部位/强度/诱因/疗效）</a:t>
            </a:r>
            <a:endParaRPr sz="113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8869680" y="3255264"/>
            <a:ext cx="237744" cy="182880"/>
          </a:xfrm>
          <a:prstGeom prst="downArrow">
            <a:avLst/>
          </a:prstGeom>
          <a:solidFill>
            <a:srgbClr val="25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0528" y="3429000"/>
            <a:ext cx="5074920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E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3648456"/>
            <a:ext cx="4754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30" b="0">
                <a:solidFill>
                  <a:srgbClr val="1F2D3D"/>
                </a:solidFill>
                <a:latin typeface="微软雅黑" panose="020B0503020204020204" charset="-122"/>
              </a:rPr>
              <a:t>3) 弹出确认卡片（确认/修改）</a:t>
            </a:r>
            <a:endParaRPr sz="113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8869680" y="4215384"/>
            <a:ext cx="237744" cy="182880"/>
          </a:xfrm>
          <a:prstGeom prst="downArrow">
            <a:avLst/>
          </a:prstGeom>
          <a:solidFill>
            <a:srgbClr val="25B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10528" y="4389120"/>
            <a:ext cx="5074920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E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4608576"/>
            <a:ext cx="4754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30" b="0">
                <a:solidFill>
                  <a:srgbClr val="1F2D3D"/>
                </a:solidFill>
                <a:latin typeface="微软雅黑" panose="020B0503020204020204" charset="-122"/>
              </a:rPr>
              <a:t>4) 自动写入时间线并触发风险评估</a:t>
            </a:r>
            <a:endParaRPr sz="113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10528" y="4663440"/>
            <a:ext cx="5074920" cy="868680"/>
          </a:xfrm>
          <a:prstGeom prst="roundRect">
            <a:avLst/>
          </a:prstGeom>
          <a:solidFill>
            <a:srgbClr val="FFF6F6"/>
          </a:solidFill>
          <a:ln w="1143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4882896"/>
            <a:ext cx="475488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触发式补采集：步数骤降 / 服药后X小时 / 连续未记录 → 主动追问1句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65760" y="5806440"/>
            <a:ext cx="11475720" cy="5760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5897880"/>
            <a:ext cx="3611880" cy="38404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89120" y="5897880"/>
            <a:ext cx="3611880" cy="384048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A8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11312" y="5897880"/>
            <a:ext cx="3429000" cy="384048"/>
          </a:xfrm>
          <a:prstGeom prst="roundRect">
            <a:avLst/>
          </a:prstGeom>
          <a:solidFill>
            <a:srgbClr val="FFF3F3"/>
          </a:solidFill>
          <a:ln w="10160">
            <a:solidFill>
              <a:srgbClr val="E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89320"/>
            <a:ext cx="3291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80" b="1">
                <a:solidFill>
                  <a:srgbClr val="2B5FA6"/>
                </a:solidFill>
                <a:latin typeface="微软雅黑" panose="020B0503020204020204" charset="-122"/>
              </a:rPr>
              <a:t>采集耗时：目标≤10秒</a:t>
            </a:r>
            <a:endParaRPr sz="10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53712" y="5989320"/>
            <a:ext cx="32918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80" b="1">
                <a:solidFill>
                  <a:srgbClr val="1B9A92"/>
                </a:solidFill>
                <a:latin typeface="微软雅黑" panose="020B0503020204020204" charset="-122"/>
              </a:rPr>
              <a:t>字段结构化：自动完成</a:t>
            </a:r>
            <a:endParaRPr sz="1080" b="1">
              <a:solidFill>
                <a:srgbClr val="1B9A92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66760" y="5989320"/>
            <a:ext cx="31546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80" b="1">
                <a:solidFill>
                  <a:srgbClr val="E85656"/>
                </a:solidFill>
                <a:latin typeface="微软雅黑" panose="020B0503020204020204" charset="-122"/>
              </a:rPr>
              <a:t>失访召回：状态机触发</a:t>
            </a:r>
            <a:endParaRPr sz="1080" b="1">
              <a:solidFill>
                <a:srgbClr val="E85656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2/4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6473952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E7F97"/>
                </a:solidFill>
                <a:latin typeface="微软雅黑" panose="020B0503020204020204" charset="-122"/>
              </a:rPr>
              <a:t>参考：J Med Internet Res 2020;22(9):e20283；团队一线访谈与问卷调研</a:t>
            </a:r>
            <a:endParaRPr sz="9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8496"/>
            <a:ext cx="86868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核心技术（3/4）创新二：可解释预警与个性化推送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658368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50608" y="960120"/>
            <a:ext cx="4690872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51560"/>
            <a:ext cx="29260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双路径风险识别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2880360" cy="1901952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27632"/>
            <a:ext cx="2651760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E85656"/>
                </a:solidFill>
                <a:latin typeface="微软雅黑" panose="020B0503020204020204" charset="-122"/>
              </a:rPr>
              <a:t>Path A：静态阈值/突变</a:t>
            </a:r>
            <a:endParaRPr sz="1400" b="1">
              <a:solidFill>
                <a:srgbClr val="E8565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NRS ≥ 8 直接触发高危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较7日均值突增 ≥ 3 且当日≥6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用于急性风险快速兜底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481328"/>
            <a:ext cx="2880360" cy="1901952"/>
          </a:xfrm>
          <a:prstGeom prst="roundRect">
            <a:avLst/>
          </a:prstGeom>
          <a:solidFill>
            <a:srgbClr val="F0FCFA"/>
          </a:solidFill>
          <a:ln w="11430">
            <a:solidFill>
              <a:srgbClr val="25B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627632"/>
            <a:ext cx="2651760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1E9890"/>
                </a:solidFill>
                <a:latin typeface="微软雅黑" panose="020B0503020204020204" charset="-122"/>
              </a:rPr>
              <a:t>Path B：治疗周期状态机</a:t>
            </a:r>
            <a:endParaRPr sz="1400" b="1">
              <a:solidFill>
                <a:srgbClr val="1E9890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术后期/康复期/药物敏感期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阈值动态调整 + 连续性判定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用于慢性风险和依从性识别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11680" y="3493008"/>
            <a:ext cx="274320" cy="22860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047488" y="3493008"/>
            <a:ext cx="274320" cy="22860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20240" y="3840480"/>
            <a:ext cx="3474720" cy="932688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050791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2B5FA6"/>
                </a:solidFill>
                <a:latin typeface="微软雅黑" panose="020B0503020204020204" charset="-122"/>
              </a:rPr>
              <a:t>Risk Level 1 / 2 / 3</a:t>
            </a:r>
            <a:endParaRPr sz="14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400" y="4315968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20" b="0">
                <a:solidFill>
                  <a:srgbClr val="1F2D3D"/>
                </a:solidFill>
                <a:latin typeface="微软雅黑" panose="020B0503020204020204" charset="-122"/>
              </a:rPr>
              <a:t>Action Dispatcher：通知 / 报告 / 宣教</a:t>
            </a:r>
            <a:endParaRPr sz="112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3529584" y="4791456"/>
            <a:ext cx="256032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80160" y="5047488"/>
            <a:ext cx="4736592" cy="105156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BCC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5303520"/>
            <a:ext cx="434340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1F2D3D"/>
                </a:solidFill>
                <a:latin typeface="微软雅黑" panose="020B0503020204020204" charset="-122"/>
              </a:rPr>
              <a:t>实时监听：触发器/云函数计算；
审计输出：rule_id + reason + event_time，便于复盘。</a:t>
            </a:r>
            <a:endParaRPr sz="110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1051560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分级响应与推送策略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70064" y="1463040"/>
            <a:ext cx="4279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158191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85656"/>
                </a:solidFill>
                <a:latin typeface="微软雅黑" panose="020B0503020204020204" charset="-122"/>
              </a:rPr>
              <a:t>Level 1 高危</a:t>
            </a:r>
            <a:endParaRPr sz="1200" b="1">
              <a:solidFill>
                <a:srgbClr val="E85656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16368" y="1865376"/>
            <a:ext cx="39776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触发：NRS≥8或突增&gt;3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16368" y="2121408"/>
            <a:ext cx="3977639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动作：强提醒 + 就医建议模板 + 紧急摘要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70064" y="2880360"/>
            <a:ext cx="4279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299923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D98B16"/>
                </a:solidFill>
                <a:latin typeface="微软雅黑" panose="020B0503020204020204" charset="-122"/>
              </a:rPr>
              <a:t>Level 2 中危</a:t>
            </a:r>
            <a:endParaRPr sz="1200" b="1">
              <a:solidFill>
                <a:srgbClr val="D98B16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16368" y="3282696"/>
            <a:ext cx="39776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触发：5-7分持续≥3天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16368" y="3538728"/>
            <a:ext cx="3977639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动作：建议联系医生 + 并发症注意事项推送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70064" y="4297680"/>
            <a:ext cx="4279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441655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4B89D6"/>
                </a:solidFill>
                <a:latin typeface="微软雅黑" panose="020B0503020204020204" charset="-122"/>
              </a:rPr>
              <a:t>Level 3 依从性</a:t>
            </a:r>
            <a:endParaRPr sz="1200" b="1">
              <a:solidFill>
                <a:srgbClr val="4B89D6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16368" y="4700016"/>
            <a:ext cx="39776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触发：超过X天未记录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16368" y="4956048"/>
            <a:ext cx="3977639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动作：温和召回 + 24h延迟队列 + 亲情号提醒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70064" y="5715000"/>
            <a:ext cx="4279392" cy="475488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25B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5824728"/>
            <a:ext cx="3977639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F2D3D"/>
                </a:solidFill>
                <a:latin typeface="微软雅黑" panose="020B0503020204020204" charset="-122"/>
              </a:rPr>
              <a:t>推送规则：危机信息置顶覆盖常规科普；全程去重 + 限频。</a:t>
            </a:r>
            <a:endParaRPr sz="1080" b="0">
              <a:solidFill>
                <a:srgbClr val="1F2D3D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0040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3/4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8800" y="6473952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E7F97"/>
                </a:solidFill>
                <a:latin typeface="微软雅黑" panose="020B0503020204020204" charset="-122"/>
              </a:rPr>
              <a:t>参考：支瑞聪等,2020；朱南希等,2022；团队预警规则设计</a:t>
            </a:r>
            <a:endParaRPr sz="9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8496"/>
            <a:ext cx="86868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核心技术（4/4）创新三：AI深度融合与技术壁垒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1147572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3383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AI闭环流程（上：时序）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384" y="1938528"/>
            <a:ext cx="2011680" cy="1261872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22576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30" b="1">
                <a:solidFill>
                  <a:srgbClr val="2B5FA6"/>
                </a:solidFill>
                <a:latin typeface="微软雅黑" panose="020B0503020204020204" charset="-122"/>
              </a:rPr>
              <a:t>用户提问</a:t>
            </a:r>
            <a:endParaRPr sz="113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825496" y="2450592"/>
            <a:ext cx="128016" cy="201168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80944" y="1938528"/>
            <a:ext cx="2011680" cy="1261872"/>
          </a:xfrm>
          <a:prstGeom prst="roundRect">
            <a:avLst/>
          </a:prstGeom>
          <a:solidFill>
            <a:srgbClr val="FFF3F3"/>
          </a:solidFill>
          <a:ln w="1143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2322576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30" b="1">
                <a:solidFill>
                  <a:srgbClr val="E85656"/>
                </a:solidFill>
                <a:latin typeface="微软雅黑" panose="020B0503020204020204" charset="-122"/>
              </a:rPr>
              <a:t>AI网关脱敏</a:t>
            </a:r>
            <a:endParaRPr sz="1130" b="1">
              <a:solidFill>
                <a:srgbClr val="E85656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020056" y="2450592"/>
            <a:ext cx="128016" cy="201168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1938528"/>
            <a:ext cx="2011680" cy="1261872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25B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2322576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30" b="1">
                <a:solidFill>
                  <a:srgbClr val="25B5A9"/>
                </a:solidFill>
                <a:latin typeface="微软雅黑" panose="020B0503020204020204" charset="-122"/>
              </a:rPr>
              <a:t>双引擎检索
(IMA知识库+平台知识库)</a:t>
            </a:r>
            <a:endParaRPr sz="1130" b="1">
              <a:solidFill>
                <a:srgbClr val="25B5A9"/>
              </a:solidFill>
              <a:latin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214616" y="2450592"/>
            <a:ext cx="128016" cy="201168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0064" y="1938528"/>
            <a:ext cx="2011680" cy="1261872"/>
          </a:xfrm>
          <a:prstGeom prst="roundRect">
            <a:avLst/>
          </a:prstGeom>
          <a:solidFill>
            <a:srgbClr val="FFF3F3"/>
          </a:solidFill>
          <a:ln w="1143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322576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30" b="1">
                <a:solidFill>
                  <a:srgbClr val="E85656"/>
                </a:solidFill>
                <a:latin typeface="微软雅黑" panose="020B0503020204020204" charset="-122"/>
              </a:rPr>
              <a:t>安全护栏与通俗化</a:t>
            </a:r>
            <a:endParaRPr sz="1130" b="1">
              <a:solidFill>
                <a:srgbClr val="E85656"/>
              </a:solidFill>
              <a:latin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409176" y="2450592"/>
            <a:ext cx="128016" cy="201168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64624" y="1938528"/>
            <a:ext cx="2011680" cy="1261872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322576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30" b="1">
                <a:solidFill>
                  <a:srgbClr val="2B5FA6"/>
                </a:solidFill>
                <a:latin typeface="微软雅黑" panose="020B0503020204020204" charset="-122"/>
              </a:rPr>
              <a:t>返回短句答案+引用</a:t>
            </a:r>
            <a:endParaRPr sz="113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3337560"/>
            <a:ext cx="10972800" cy="50292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93008"/>
            <a:ext cx="106070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80" b="0">
                <a:solidFill>
                  <a:srgbClr val="6E7F97"/>
                </a:solidFill>
                <a:latin typeface="微软雅黑" panose="020B0503020204020204" charset="-122"/>
              </a:rPr>
              <a:t>隐私原则：用户画像与原始病历不外发；外部能力仅接收脱敏后的最小必要Query。</a:t>
            </a:r>
            <a:endParaRPr sz="108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" y="4160520"/>
            <a:ext cx="11475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407408"/>
            <a:ext cx="3566160" cy="150876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4526280"/>
            <a:ext cx="3419856" cy="1380743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2B5FA6"/>
                </a:solidFill>
                <a:latin typeface="微软雅黑" panose="020B0503020204020204" charset="-122"/>
              </a:rPr>
              <a:t>壁垒1：知识资产化</a:t>
            </a:r>
            <a:endParaRPr sz="1400" b="1">
              <a:solidFill>
                <a:srgbClr val="2B5FA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指南/共识/循证材料结构化沉淀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输出带引用，可追溯可质控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专家审核保障医学可靠性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4407408"/>
            <a:ext cx="3566160" cy="150876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E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419856" cy="1380743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1E9890"/>
                </a:solidFill>
                <a:latin typeface="微软雅黑" panose="020B0503020204020204" charset="-122"/>
              </a:rPr>
              <a:t>壁垒2：安全可控</a:t>
            </a:r>
            <a:endParaRPr sz="1400" b="1">
              <a:solidFill>
                <a:srgbClr val="1E9890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规则先决策，AI做解释与教育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高危场景使用固定就医模板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权限、同意、审计全链条留痕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4407408"/>
            <a:ext cx="3566160" cy="1508760"/>
          </a:xfrm>
          <a:prstGeom prst="roundRect">
            <a:avLst/>
          </a:prstGeom>
          <a:solidFill>
            <a:srgbClr val="FFF3F3"/>
          </a:solidFill>
          <a:ln w="11430">
            <a:solidFill>
              <a:srgbClr val="E8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4526280"/>
            <a:ext cx="3419856" cy="1380743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400" b="1">
                <a:solidFill>
                  <a:srgbClr val="E85656"/>
                </a:solidFill>
                <a:latin typeface="微软雅黑" panose="020B0503020204020204" charset="-122"/>
              </a:rPr>
              <a:t>壁垒3：规模化能力</a:t>
            </a:r>
            <a:endParaRPr sz="1400" b="1">
              <a:solidFill>
                <a:srgbClr val="E8565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云函数调度支持高并发低运维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可扩展接入更多可穿戴平台</a:t>
            </a:r>
          </a:p>
          <a:p>
            <a:pPr>
              <a:spcBef>
                <a:spcPts val="200"/>
              </a:spcBef>
              <a:defRPr sz="1150">
                <a:solidFill>
                  <a:srgbClr val="1F2D3D"/>
                </a:solidFill>
                <a:latin typeface="微软雅黑" panose="020B0503020204020204" charset="-122"/>
              </a:defRPr>
            </a:pPr>
            <a:r>
              <a:t>• B2B2C路径支撑商业化推广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989320"/>
            <a:ext cx="11064240" cy="228600"/>
          </a:xfrm>
          <a:prstGeom prst="roundRect">
            <a:avLst/>
          </a:prstGeom>
          <a:solidFill>
            <a:srgbClr val="ECF2FF"/>
          </a:solidFill>
          <a:ln w="8890">
            <a:solidFill>
              <a:srgbClr val="B3C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007608"/>
            <a:ext cx="106984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60" b="1">
                <a:solidFill>
                  <a:srgbClr val="2B5FA6"/>
                </a:solidFill>
                <a:latin typeface="微软雅黑" panose="020B0503020204020204" charset="-122"/>
              </a:rPr>
              <a:t>结论：本项目具备“技术可行 + 医疗可信 + 商业可扩”的三重成立条件。</a:t>
            </a:r>
            <a:endParaRPr sz="106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E7F97"/>
                </a:solidFill>
                <a:latin typeface="微软雅黑" panose="020B0503020204020204" charset="-122"/>
              </a:rPr>
              <a:t>4/4</a:t>
            </a:r>
            <a:endParaRPr sz="10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28800" y="6473952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E7F97"/>
                </a:solidFill>
                <a:latin typeface="微软雅黑" panose="020B0503020204020204" charset="-122"/>
              </a:rPr>
              <a:t>参考：ima.qq.com；developers.weixin.qq.com；彭进亚等,2016；朱南希等,2022；李冬,2019</a:t>
            </a:r>
            <a:endParaRPr sz="900" b="0">
              <a:solidFill>
                <a:srgbClr val="6E7F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WPS 演示</Application>
  <PresentationFormat>On-screen Show (4:3)</PresentationFormat>
  <Paragraphs>169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刘昌宁</cp:lastModifiedBy>
  <cp:revision>5</cp:revision>
  <dcterms:created xsi:type="dcterms:W3CDTF">2013-01-27T09:14:00Z</dcterms:created>
  <dcterms:modified xsi:type="dcterms:W3CDTF">2026-04-12T13:40:51Z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F6496ECE20EF43CEA5BCEA1C66F6494C_12</vt:lpwstr>
  </property>
  <property fmtid="{D5CDD505-2E9C-101B-9397-08002B2CF9AE}" pid="3" name="KSOProductBuildVer">
    <vt:lpwstr>2052-12.1.0.24655</vt:lpwstr>
  </property>
</Properties>
</file>