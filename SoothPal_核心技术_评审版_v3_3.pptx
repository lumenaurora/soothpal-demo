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2"/>
        <p:guide pos="29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82296"/>
            <a:ext cx="10881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核心技术（1/4）技术闭环架构：从记录到干预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0642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D9E7FB"/>
                </a:solidFill>
                <a:latin typeface="微软雅黑" panose="020B0503020204020204" charset="-122"/>
              </a:rPr>
              <a:t>舒伴 SoothPal 以“低负担采集 + 可解释预警 + AI赋能教育”构建慢性疼痛管理底座</a:t>
            </a:r>
            <a:endParaRPr sz="1000" b="0">
              <a:solidFill>
                <a:srgbClr val="D9E7F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8001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8001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0" y="1005840"/>
            <a:ext cx="2971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3474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微软雅黑" panose="020B0503020204020204" charset="-122"/>
              </a:rPr>
              <a:t>核心流程：采集 → 建档 → 评估 → 干预 → 随访</a:t>
            </a:r>
            <a:endParaRPr sz="12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417320" cy="13258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1271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微软雅黑" panose="020B0503020204020204" charset="-122"/>
              </a:rPr>
              <a:t>零负担采集</a:t>
            </a:r>
            <a:endParaRPr sz="118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2359152"/>
            <a:ext cx="1271016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E2A3A"/>
                </a:solidFill>
                <a:latin typeface="微软雅黑" panose="020B0503020204020204" charset="-122"/>
              </a:rPr>
              <a:t>2D点选/语音打卡</a:t>
            </a:r>
            <a:endParaRPr sz="10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76272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13432" y="1828800"/>
            <a:ext cx="1417320" cy="13258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6584" y="1993392"/>
            <a:ext cx="1271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微软雅黑" panose="020B0503020204020204" charset="-122"/>
              </a:rPr>
              <a:t>数据建档</a:t>
            </a:r>
            <a:endParaRPr sz="118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86584" y="2359152"/>
            <a:ext cx="1271016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E2A3A"/>
                </a:solidFill>
                <a:latin typeface="微软雅黑" panose="020B0503020204020204" charset="-122"/>
              </a:rPr>
              <a:t>时间线+用户画像</a:t>
            </a:r>
            <a:endParaRPr sz="10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3758184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95344" y="1828800"/>
            <a:ext cx="1417320" cy="1325880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8496" y="1993392"/>
            <a:ext cx="1271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微软雅黑" panose="020B0503020204020204" charset="-122"/>
              </a:rPr>
              <a:t>风险评估</a:t>
            </a:r>
            <a:endParaRPr sz="118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68496" y="2359152"/>
            <a:ext cx="1271016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E2A3A"/>
                </a:solidFill>
                <a:latin typeface="微软雅黑" panose="020B0503020204020204" charset="-122"/>
              </a:rPr>
              <a:t>阈值+突变+状态机</a:t>
            </a:r>
            <a:endParaRPr sz="10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5340096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77255" y="1828800"/>
            <a:ext cx="1417320" cy="132588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0407" y="1993392"/>
            <a:ext cx="1271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微软雅黑" panose="020B0503020204020204" charset="-122"/>
              </a:rPr>
              <a:t>AI生成</a:t>
            </a:r>
            <a:endParaRPr sz="118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50407" y="2359152"/>
            <a:ext cx="1271016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E2A3A"/>
                </a:solidFill>
                <a:latin typeface="微软雅黑" panose="020B0503020204020204" charset="-122"/>
              </a:rPr>
              <a:t>检索增强+通俗表达</a:t>
            </a:r>
            <a:endParaRPr sz="10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6922007" y="2395728"/>
            <a:ext cx="109728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59168" y="1828800"/>
            <a:ext cx="1417320" cy="132588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4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1271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微软雅黑" panose="020B0503020204020204" charset="-122"/>
              </a:rPr>
              <a:t>闭环随访</a:t>
            </a:r>
            <a:endParaRPr sz="118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0" y="2359152"/>
            <a:ext cx="1271016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20" b="0">
                <a:solidFill>
                  <a:srgbClr val="1E2A3A"/>
                </a:solidFill>
                <a:latin typeface="微软雅黑" panose="020B0503020204020204" charset="-122"/>
              </a:rPr>
              <a:t>分级提醒+周报</a:t>
            </a:r>
            <a:endParaRPr sz="10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" y="4453128"/>
            <a:ext cx="30175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微软雅黑" panose="020B0503020204020204" charset="-122"/>
              </a:rPr>
              <a:t>关键技术栈（MVP可直接落地）</a:t>
            </a:r>
            <a:endParaRPr sz="12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818888"/>
            <a:ext cx="212140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微软雅黑" panose="020B0503020204020204" charset="-122"/>
              </a:rPr>
              <a:t>前端与交互</a:t>
            </a:r>
            <a:endParaRPr sz="11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2354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10235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微信小程序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2354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42239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2D疼痛标注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2354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574243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语音录入(ASR)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24612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4818888"/>
            <a:ext cx="212140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微软雅黑" panose="020B0503020204020204" charset="-122"/>
              </a:rPr>
              <a:t>服务与数据</a:t>
            </a:r>
            <a:endParaRPr sz="11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39242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47288" y="510235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云托管/Serverless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39242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47288" y="542239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MySQL + Redis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39242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47288" y="574243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对象存储 + 审计日志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715000" y="4736592"/>
            <a:ext cx="2286000" cy="132588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7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88152" y="4818888"/>
            <a:ext cx="2121408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微软雅黑" panose="020B0503020204020204" charset="-122"/>
              </a:rPr>
              <a:t>智能与触达</a:t>
            </a:r>
            <a:endParaRPr sz="11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861304" y="5047488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16168" y="510235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RAG知识引擎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861304" y="536752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6168" y="542239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规则预警引擎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861304" y="5687567"/>
            <a:ext cx="1993392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16168" y="5742431"/>
            <a:ext cx="1874519" cy="1280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1E2A3A"/>
                </a:solidFill>
                <a:latin typeface="微软雅黑" panose="020B0503020204020204" charset="-122"/>
              </a:rPr>
              <a:t>订阅消息/亲情号通知</a:t>
            </a:r>
            <a:endParaRPr sz="9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833104" y="1188720"/>
            <a:ext cx="2697480" cy="1874519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我们的技术主张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把医疗安全放在第一优先级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把每次记录变成可执行干预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把短期使用变成长期陪伴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2850" y="2205355"/>
            <a:ext cx="2697480" cy="1179830"/>
          </a:xfrm>
          <a:prstGeom prst="rect">
            <a:avLst/>
          </a:prstGeom>
          <a:noFill/>
        </p:spPr>
        <p:txBody>
          <a:bodyPr wrap="square" lIns="54864" rIns="54864" bIns="36576">
            <a:noAutofit/>
          </a:bodyPr>
          <a:lstStyle/>
          <a:p>
            <a:r>
              <a:rPr sz="1300" b="1">
                <a:solidFill>
                  <a:srgbClr val="22B8A9"/>
                </a:solidFill>
                <a:latin typeface="微软雅黑" panose="020B0503020204020204" charset="-122"/>
              </a:rPr>
              <a:t>项目阶段目标</a:t>
            </a:r>
            <a:endParaRPr sz="1300" b="1">
              <a:solidFill>
                <a:srgbClr val="22B8A9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立项期完成端到端Demo闭环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试点期沉淀可审计规则与知识资产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33104" y="4892040"/>
            <a:ext cx="2697480" cy="118872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6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0" y="5074920"/>
            <a:ext cx="24231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微软雅黑" panose="020B0503020204020204" charset="-122"/>
              </a:rPr>
              <a:t>价值落点：
让患者持续记录、看懂趋势，
并在风险出现前得到干预。</a:t>
            </a:r>
            <a:endParaRPr sz="108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微软雅黑" panose="020B0503020204020204" charset="-122"/>
              </a:rPr>
              <a:t>1/4</a:t>
            </a:r>
            <a:endParaRPr sz="10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微软雅黑" panose="020B0503020204020204" charset="-122"/>
              </a:rPr>
              <a:t>参考：developers.weixin.qq.com；ima.qq.com；J Med Internet Res 2020;22(9):e20283</a:t>
            </a:r>
            <a:endParaRPr sz="9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3"/>
          <p:cNvSpPr txBox="1"/>
          <p:nvPr/>
        </p:nvSpPr>
        <p:spPr>
          <a:xfrm>
            <a:off x="8832850" y="3063240"/>
            <a:ext cx="2697480" cy="1179830"/>
          </a:xfrm>
          <a:prstGeom prst="rect">
            <a:avLst/>
          </a:prstGeom>
          <a:noFill/>
        </p:spPr>
        <p:txBody>
          <a:bodyPr wrap="square" lIns="54864" rIns="54864" bIns="36576">
            <a:noAutofit/>
          </a:bodyPr>
          <a:lstStyle/>
          <a:p>
            <a:r>
              <a:rPr lang="en-US" sz="1300" b="1">
                <a:solidFill>
                  <a:srgbClr val="7030A0"/>
                </a:solidFill>
                <a:latin typeface="微软雅黑" panose="020B0503020204020204" charset="-122"/>
              </a:rPr>
              <a:t>demo</a:t>
            </a:r>
            <a:r>
              <a:rPr lang="zh-CN" altLang="en-US" sz="1300" b="1">
                <a:solidFill>
                  <a:srgbClr val="7030A0"/>
                </a:solidFill>
                <a:latin typeface="微软雅黑" panose="020B0503020204020204" charset="-122"/>
              </a:rPr>
              <a:t>实现</a:t>
            </a:r>
            <a:endParaRPr sz="1300" b="1">
              <a:solidFill>
                <a:srgbClr val="7030A0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</a:t>
            </a:r>
            <a:r>
              <a:rPr lang="zh-CN"/>
              <a:t>网页版本：</a:t>
            </a:r>
            <a:endParaRPr lang="zh-CN"/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en-US" altLang="zh-CN"/>
              <a:t>https://github.com/LumenAurora/SoothPal-demo.git</a:t>
            </a:r>
            <a:endParaRPr lang="en-US" altLang="zh-CN"/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</a:t>
            </a:r>
            <a:r>
              <a:rPr lang="zh-CN"/>
              <a:t>小程序版本：</a:t>
            </a:r>
            <a:br>
              <a:rPr lang="zh-CN"/>
            </a:br>
            <a:r>
              <a:rPr lang="zh-CN"/>
              <a:t>搜索</a:t>
            </a:r>
            <a:r>
              <a:rPr lang="en-US" altLang="zh-CN"/>
              <a:t>“</a:t>
            </a:r>
            <a:r>
              <a:rPr lang="zh-CN" altLang="en-US"/>
              <a:t>舒伴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82296"/>
            <a:ext cx="10881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核心技术（2/4）创新一：零负担采集，提升随访完成率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0642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D9E7FB"/>
                </a:solidFill>
                <a:latin typeface="微软雅黑" panose="020B0503020204020204" charset="-122"/>
              </a:rPr>
              <a:t>将高频记录压缩到10秒级，降低失访并提升数据连续性</a:t>
            </a:r>
            <a:endParaRPr sz="1000" b="0">
              <a:solidFill>
                <a:srgbClr val="D9E7F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89320" y="1005840"/>
            <a:ext cx="5669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5669280"/>
            <a:ext cx="11155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25603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微软雅黑" panose="020B0503020204020204" charset="-122"/>
              </a:rPr>
              <a:t>交互入口：2D人体点选/涂抹</a:t>
            </a:r>
            <a:endParaRPr sz="12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0120" y="1572768"/>
            <a:ext cx="1965960" cy="3566160"/>
          </a:xfrm>
          <a:prstGeom prst="roundRect">
            <a:avLst/>
          </a:prstGeom>
          <a:solidFill>
            <a:srgbClr val="FBFD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572768"/>
            <a:ext cx="1965960" cy="3566160"/>
          </a:xfrm>
          <a:prstGeom prst="roundRect">
            <a:avLst/>
          </a:prstGeom>
          <a:solidFill>
            <a:srgbClr val="FBFD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B7D95"/>
                </a:solidFill>
                <a:latin typeface="微软雅黑" panose="020B0503020204020204" charset="-122"/>
              </a:rPr>
              <a:t>前视图</a:t>
            </a:r>
            <a:endParaRPr sz="10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94760" y="1691640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6B7D95"/>
                </a:solidFill>
                <a:latin typeface="微软雅黑" panose="020B0503020204020204" charset="-122"/>
              </a:rPr>
              <a:t>后视图</a:t>
            </a:r>
            <a:endParaRPr sz="10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83080" y="233172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83080" y="283464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830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160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69080" y="233172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69080" y="283464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118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80" y="4069080"/>
            <a:ext cx="274320" cy="274320"/>
          </a:xfrm>
          <a:prstGeom prst="ellipse">
            <a:avLst/>
          </a:prstGeom>
          <a:solidFill>
            <a:srgbClr val="C7E2F5"/>
          </a:solidFill>
          <a:ln>
            <a:solidFill>
              <a:srgbClr val="9CC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54480" y="3154680"/>
            <a:ext cx="530352" cy="530352"/>
          </a:xfrm>
          <a:prstGeom prst="ellipse">
            <a:avLst/>
          </a:prstGeom>
          <a:solidFill>
            <a:srgbClr val="F39D93"/>
          </a:solidFill>
          <a:ln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75887" y="3063240"/>
            <a:ext cx="658368" cy="658368"/>
          </a:xfrm>
          <a:prstGeom prst="ellipse">
            <a:avLst/>
          </a:prstGeom>
          <a:solidFill>
            <a:srgbClr val="ED7474"/>
          </a:solidFill>
          <a:ln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4846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6B7D95"/>
                </a:solidFill>
                <a:latin typeface="微软雅黑" panose="020B0503020204020204" charset="-122"/>
              </a:rPr>
              <a:t>记录方式：点选部位 + 强度滑条 + 一键保存，不要求长文本输入。</a:t>
            </a:r>
            <a:endParaRPr sz="105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2200" y="1115568"/>
            <a:ext cx="25603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微软雅黑" panose="020B0503020204020204" charset="-122"/>
              </a:rPr>
              <a:t>AI结构化采集流程</a:t>
            </a:r>
            <a:endParaRPr sz="12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36208" y="1600200"/>
            <a:ext cx="5175504" cy="7772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837943"/>
            <a:ext cx="4846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微软雅黑" panose="020B0503020204020204" charset="-122"/>
              </a:rPr>
              <a:t>1) 用户一句话描述疼痛变化与用药情况</a:t>
            </a:r>
            <a:endParaRPr sz="11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8705088" y="2386584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8" y="2532888"/>
            <a:ext cx="5175504" cy="7772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770632"/>
            <a:ext cx="4846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微软雅黑" panose="020B0503020204020204" charset="-122"/>
              </a:rPr>
              <a:t>2) ASR转写并抽取字段（部位/强度/诱因/疗效）</a:t>
            </a:r>
            <a:endParaRPr sz="11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8705088" y="3319272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6208" y="3465576"/>
            <a:ext cx="5175504" cy="7772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03320"/>
            <a:ext cx="4846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微软雅黑" panose="020B0503020204020204" charset="-122"/>
              </a:rPr>
              <a:t>3) 弹出确认卡片（确认 / 修改）</a:t>
            </a:r>
            <a:endParaRPr sz="11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4" name="Down Arrow 33"/>
          <p:cNvSpPr/>
          <p:nvPr/>
        </p:nvSpPr>
        <p:spPr>
          <a:xfrm>
            <a:off x="8705088" y="4251960"/>
            <a:ext cx="219456" cy="155448"/>
          </a:xfrm>
          <a:prstGeom prst="downArrow">
            <a:avLst/>
          </a:prstGeom>
          <a:solidFill>
            <a:srgbClr val="22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36208" y="4398264"/>
            <a:ext cx="5175504" cy="777240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636008"/>
            <a:ext cx="4846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20" b="0">
                <a:solidFill>
                  <a:srgbClr val="1E2A3A"/>
                </a:solidFill>
                <a:latin typeface="微软雅黑" panose="020B0503020204020204" charset="-122"/>
              </a:rPr>
              <a:t>4) 自动入库并触发后续评估与宣教</a:t>
            </a:r>
            <a:endParaRPr sz="112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36208" y="4681728"/>
            <a:ext cx="5175504" cy="676656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901184"/>
            <a:ext cx="48463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微软雅黑" panose="020B0503020204020204" charset="-122"/>
              </a:rPr>
              <a:t>触发式补采集：步数骤降 / 服药后X小时 / 连续未记录 → 主动追问1句</a:t>
            </a:r>
            <a:endParaRPr sz="108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58368" y="5797296"/>
            <a:ext cx="3429000" cy="420624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5925312"/>
            <a:ext cx="13258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微软雅黑" panose="020B0503020204020204" charset="-122"/>
              </a:rPr>
              <a:t>采集耗时</a:t>
            </a:r>
            <a:endParaRPr sz="10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075688" y="5925312"/>
            <a:ext cx="1901952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B5FA6"/>
                </a:solidFill>
                <a:latin typeface="微软雅黑" panose="020B0503020204020204" charset="-122"/>
              </a:rPr>
              <a:t>目标≤10秒</a:t>
            </a:r>
            <a:endParaRPr sz="110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370832" y="5797296"/>
            <a:ext cx="3429000" cy="420624"/>
          </a:xfrm>
          <a:prstGeom prst="roundRect">
            <a:avLst/>
          </a:prstGeom>
          <a:solidFill>
            <a:srgbClr val="EEFBF9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43984" y="5925312"/>
            <a:ext cx="13258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微软雅黑" panose="020B0503020204020204" charset="-122"/>
              </a:rPr>
              <a:t>字段结构化</a:t>
            </a:r>
            <a:endParaRPr sz="10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788152" y="5925312"/>
            <a:ext cx="1901952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2B8A9"/>
                </a:solidFill>
                <a:latin typeface="微软雅黑" panose="020B0503020204020204" charset="-122"/>
              </a:rPr>
              <a:t>自动完成</a:t>
            </a:r>
            <a:endParaRPr sz="1100" b="1">
              <a:solidFill>
                <a:srgbClr val="22B8A9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083296" y="5797296"/>
            <a:ext cx="3429000" cy="420624"/>
          </a:xfrm>
          <a:prstGeom prst="roundRect">
            <a:avLst/>
          </a:prstGeom>
          <a:solidFill>
            <a:srgbClr val="FFF4F4"/>
          </a:solidFill>
          <a:ln w="1016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56448" y="5925312"/>
            <a:ext cx="13258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>
                <a:solidFill>
                  <a:srgbClr val="1E2A3A"/>
                </a:solidFill>
                <a:latin typeface="微软雅黑" panose="020B0503020204020204" charset="-122"/>
              </a:rPr>
              <a:t>失访召回</a:t>
            </a:r>
            <a:endParaRPr sz="105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500616" y="5925312"/>
            <a:ext cx="1901952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65A5A"/>
                </a:solidFill>
                <a:latin typeface="微软雅黑" panose="020B0503020204020204" charset="-122"/>
              </a:rPr>
              <a:t>状态机触发</a:t>
            </a:r>
            <a:endParaRPr sz="1100" b="1">
              <a:solidFill>
                <a:srgbClr val="E65A5A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微软雅黑" panose="020B0503020204020204" charset="-122"/>
              </a:rPr>
              <a:t>2/4</a:t>
            </a:r>
            <a:endParaRPr sz="10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微软雅黑" panose="020B0503020204020204" charset="-122"/>
              </a:rPr>
              <a:t>参考：J Med Internet Res 2020;22(9):e20283；团队访谈与问卷调研</a:t>
            </a:r>
            <a:endParaRPr sz="9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82296"/>
            <a:ext cx="10881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核心技术（3/4）创新二：分级预警与个性化推送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0642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D9E7FB"/>
                </a:solidFill>
                <a:latin typeface="微软雅黑" panose="020B0503020204020204" charset="-122"/>
              </a:rPr>
              <a:t>静态阈值 + 动态状态机双路径，兼顾安全底线与干预效率</a:t>
            </a:r>
            <a:endParaRPr sz="1000" b="0">
              <a:solidFill>
                <a:srgbClr val="D9E7F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6675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60920" y="1005840"/>
            <a:ext cx="42976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25603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微软雅黑" panose="020B0503020204020204" charset="-122"/>
              </a:rPr>
              <a:t>双路径风险识别</a:t>
            </a:r>
            <a:endParaRPr sz="12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2926080" cy="1828800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19072"/>
            <a:ext cx="2670048" cy="155448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E65A5A"/>
                </a:solidFill>
                <a:latin typeface="微软雅黑" panose="020B0503020204020204" charset="-122"/>
              </a:rPr>
              <a:t>Path A：静态阈值/突变</a:t>
            </a:r>
            <a:endParaRPr sz="1300" b="1">
              <a:solidFill>
                <a:srgbClr val="E65A5A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NRS≥8 直接触发高危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较7日均值突增≥3且当日≥6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用于急性风险即时兜底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572768"/>
            <a:ext cx="2926080" cy="1828800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22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1719072"/>
            <a:ext cx="2670048" cy="155448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198F84"/>
                </a:solidFill>
                <a:latin typeface="微软雅黑" panose="020B0503020204020204" charset="-122"/>
              </a:rPr>
              <a:t>Path B：治疗周期状态机</a:t>
            </a:r>
            <a:endParaRPr sz="1300" b="1">
              <a:solidFill>
                <a:srgbClr val="198F84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术后期/康复期/药物敏感期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阈值动态调整 + 连续性判定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识别慢性风险与依从性下降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86000" y="3493008"/>
            <a:ext cx="228600" cy="18288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349240" y="3493008"/>
            <a:ext cx="228600" cy="182880"/>
          </a:xfrm>
          <a:prstGeom prst="down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3749039"/>
            <a:ext cx="3520440" cy="868680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3977639"/>
            <a:ext cx="32461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>
                <a:solidFill>
                  <a:srgbClr val="2B5FA6"/>
                </a:solidFill>
                <a:latin typeface="微软雅黑" panose="020B0503020204020204" charset="-122"/>
              </a:rPr>
              <a:t>Risk Level 1 / 2 / 3</a:t>
            </a:r>
            <a:endParaRPr sz="13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40280" y="4224528"/>
            <a:ext cx="32461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1E2A3A"/>
                </a:solidFill>
                <a:latin typeface="微软雅黑" panose="020B0503020204020204" charset="-122"/>
              </a:rPr>
              <a:t>响应调度：通知 / 报告 / 宣教</a:t>
            </a:r>
            <a:endParaRPr sz="110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234440" y="4846320"/>
            <a:ext cx="5303520" cy="1207008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3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230368"/>
            <a:ext cx="4846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1E2A3A"/>
                </a:solidFill>
                <a:latin typeface="微软雅黑" panose="020B0503020204020204" charset="-122"/>
              </a:rPr>
              <a:t>实时监听：触发器/云函数执行；
审计输出：rule_id + reason + event_time，便于复盘与优化。</a:t>
            </a:r>
            <a:endParaRPr sz="110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43800" y="1115568"/>
            <a:ext cx="30175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微软雅黑" panose="020B0503020204020204" charset="-122"/>
              </a:rPr>
              <a:t>分级响应（系统自动执行）</a:t>
            </a:r>
            <a:endParaRPr sz="12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543800" y="157276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700784"/>
            <a:ext cx="1828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E65A5A"/>
                </a:solidFill>
                <a:latin typeface="微软雅黑" panose="020B0503020204020204" charset="-122"/>
              </a:rPr>
              <a:t>Level 1 高危</a:t>
            </a:r>
            <a:endParaRPr sz="1200" b="1">
              <a:solidFill>
                <a:srgbClr val="E65A5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99248" y="2011680"/>
            <a:ext cx="36118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微软雅黑" panose="020B0503020204020204" charset="-122"/>
              </a:rPr>
              <a:t>触发：NRS≥8或突增&gt;3</a:t>
            </a:r>
            <a:endParaRPr sz="108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99248" y="2304288"/>
            <a:ext cx="36118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微软雅黑" panose="020B0503020204020204" charset="-122"/>
              </a:rPr>
              <a:t>动作：强提醒 + 就医建议模板 + 紧急摘要</a:t>
            </a:r>
            <a:endParaRPr sz="108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543800" y="312724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3255264"/>
            <a:ext cx="1828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D98B16"/>
                </a:solidFill>
                <a:latin typeface="微软雅黑" panose="020B0503020204020204" charset="-122"/>
              </a:rPr>
              <a:t>Level 2 中危</a:t>
            </a:r>
            <a:endParaRPr sz="1200" b="1">
              <a:solidFill>
                <a:srgbClr val="D98B1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99248" y="3566160"/>
            <a:ext cx="36118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微软雅黑" panose="020B0503020204020204" charset="-122"/>
              </a:rPr>
              <a:t>触发：5-7分持续≥3天</a:t>
            </a:r>
            <a:endParaRPr sz="108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99248" y="3858768"/>
            <a:ext cx="36118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微软雅黑" panose="020B0503020204020204" charset="-122"/>
              </a:rPr>
              <a:t>动作：建议联系医生 + 并发症注意事项推送</a:t>
            </a:r>
            <a:endParaRPr sz="108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43800" y="4681728"/>
            <a:ext cx="39319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B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4809744"/>
            <a:ext cx="1828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4B89D6"/>
                </a:solidFill>
                <a:latin typeface="微软雅黑" panose="020B0503020204020204" charset="-122"/>
              </a:rPr>
              <a:t>Level 3 依从性</a:t>
            </a:r>
            <a:endParaRPr sz="1200" b="1">
              <a:solidFill>
                <a:srgbClr val="4B89D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99248" y="5120640"/>
            <a:ext cx="36118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微软雅黑" panose="020B0503020204020204" charset="-122"/>
              </a:rPr>
              <a:t>触发：超过X天未记录</a:t>
            </a:r>
            <a:endParaRPr sz="108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99248" y="5413248"/>
            <a:ext cx="36118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1E2A3A"/>
                </a:solidFill>
                <a:latin typeface="微软雅黑" panose="020B0503020204020204" charset="-122"/>
              </a:rPr>
              <a:t>动作：温和召回 + 24h延迟队列 + 亲情号提醒</a:t>
            </a:r>
            <a:endParaRPr sz="1080" b="0">
              <a:solidFill>
                <a:srgbClr val="1E2A3A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微软雅黑" panose="020B0503020204020204" charset="-122"/>
              </a:rPr>
              <a:t>3/4</a:t>
            </a:r>
            <a:endParaRPr sz="10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微软雅黑" panose="020B0503020204020204" charset="-122"/>
              </a:rPr>
              <a:t>参考：支瑞聪等,2020；朱南希等,2022；团队预警规则设计</a:t>
            </a:r>
            <a:endParaRPr sz="9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82296"/>
            <a:ext cx="10881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核心技术（4/4）创新三：AI深度融合与可持续壁垒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0642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D9E7FB"/>
                </a:solidFill>
                <a:latin typeface="微软雅黑" panose="020B0503020204020204" charset="-122"/>
              </a:rPr>
              <a:t>以“检索增强 + 脱敏治理 + 安全护栏”构建可持续迭代技术中台</a:t>
            </a:r>
            <a:endParaRPr sz="1000" b="0">
              <a:solidFill>
                <a:srgbClr val="D9E7F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111556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4160520"/>
            <a:ext cx="11155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32918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2B5FA6"/>
                </a:solidFill>
                <a:latin typeface="微软雅黑" panose="020B0503020204020204" charset="-122"/>
              </a:rPr>
              <a:t>AI闭环流程（时序）</a:t>
            </a:r>
            <a:endParaRPr sz="12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2011680" cy="1389888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82880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微软雅黑" panose="020B0503020204020204" charset="-122"/>
              </a:rPr>
              <a:t>用户提问</a:t>
            </a:r>
            <a:endParaRPr sz="118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898648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0088" y="1828800"/>
            <a:ext cx="2011680" cy="1389888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286000"/>
            <a:ext cx="182880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E65A5A"/>
                </a:solidFill>
                <a:latin typeface="微软雅黑" panose="020B0503020204020204" charset="-122"/>
              </a:rPr>
              <a:t>AI网关脱敏</a:t>
            </a:r>
            <a:endParaRPr sz="1180" b="1">
              <a:solidFill>
                <a:srgbClr val="E65A5A"/>
              </a:solidFill>
              <a:latin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5020056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11496" y="1828800"/>
            <a:ext cx="2011680" cy="1389888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199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2286000"/>
            <a:ext cx="182880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199085"/>
                </a:solidFill>
                <a:latin typeface="微软雅黑" panose="020B0503020204020204" charset="-122"/>
              </a:rPr>
              <a:t>知识检索增强
（平台知识库 + IMA知识库）</a:t>
            </a:r>
            <a:endParaRPr sz="1180" b="1">
              <a:solidFill>
                <a:srgbClr val="199085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141464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32904" y="1828800"/>
            <a:ext cx="2011680" cy="1389888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344" y="2286000"/>
            <a:ext cx="182880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E65A5A"/>
                </a:solidFill>
                <a:latin typeface="微软雅黑" panose="020B0503020204020204" charset="-122"/>
              </a:rPr>
              <a:t>安全护栏与通俗化</a:t>
            </a:r>
            <a:endParaRPr sz="1180" b="1">
              <a:solidFill>
                <a:srgbClr val="E65A5A"/>
              </a:solidFill>
              <a:latin typeface="微软雅黑" panose="020B0503020204020204" charset="-122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262872" y="2404872"/>
            <a:ext cx="91440" cy="164592"/>
          </a:xfrm>
          <a:prstGeom prst="rightArrow">
            <a:avLst/>
          </a:prstGeom>
          <a:solidFill>
            <a:srgbClr val="2B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54312" y="1828800"/>
            <a:ext cx="2011680" cy="1389888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2286000"/>
            <a:ext cx="182880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80" b="1">
                <a:solidFill>
                  <a:srgbClr val="2B5FA6"/>
                </a:solidFill>
                <a:latin typeface="微软雅黑" panose="020B0503020204020204" charset="-122"/>
              </a:rPr>
              <a:t>返回短句答案+引用</a:t>
            </a:r>
            <a:endParaRPr sz="118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8680" y="3337560"/>
            <a:ext cx="10424160" cy="502920"/>
          </a:xfrm>
          <a:prstGeom prst="roundRect">
            <a:avLst/>
          </a:prstGeom>
          <a:solidFill>
            <a:srgbClr val="F3F6FC"/>
          </a:solidFill>
          <a:ln w="10160">
            <a:solidFill>
              <a:srgbClr val="C3D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502152"/>
            <a:ext cx="99669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80" b="0">
                <a:solidFill>
                  <a:srgbClr val="6B7D95"/>
                </a:solidFill>
                <a:latin typeface="微软雅黑" panose="020B0503020204020204" charset="-122"/>
              </a:rPr>
              <a:t>隐私原则：用户画像与病历原文不外发；外部能力仅接收脱敏后的最小必要Query。</a:t>
            </a:r>
            <a:endParaRPr sz="108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4434840"/>
            <a:ext cx="3383280" cy="1691640"/>
          </a:xfrm>
          <a:prstGeom prst="roundRect">
            <a:avLst/>
          </a:prstGeom>
          <a:solidFill>
            <a:srgbClr val="EEF4FF"/>
          </a:solidFill>
          <a:ln w="11430">
            <a:solidFill>
              <a:srgbClr val="2B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2B5FA6"/>
                </a:solidFill>
                <a:latin typeface="微软雅黑" panose="020B0503020204020204" charset="-122"/>
              </a:rPr>
              <a:t>壁垒1：知识资产化</a:t>
            </a:r>
            <a:endParaRPr sz="1300" b="1">
              <a:solidFill>
                <a:srgbClr val="2B5FA6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指南/共识/循证内容结构化沉淀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输出带引用，可追溯可质控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专家审核保障医学可靠性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434840"/>
            <a:ext cx="3383280" cy="1691640"/>
          </a:xfrm>
          <a:prstGeom prst="roundRect">
            <a:avLst/>
          </a:prstGeom>
          <a:solidFill>
            <a:srgbClr val="EEFBF9"/>
          </a:solidFill>
          <a:ln w="11430">
            <a:solidFill>
              <a:srgbClr val="19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198F84"/>
                </a:solidFill>
                <a:latin typeface="微软雅黑" panose="020B0503020204020204" charset="-122"/>
              </a:rPr>
              <a:t>壁垒2：安全可控</a:t>
            </a:r>
            <a:endParaRPr sz="1300" b="1">
              <a:solidFill>
                <a:srgbClr val="198F84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规则先决策，AI做解释与教育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高危场景使用固定就医模板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权限、同意、审计全链路留痕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4434840"/>
            <a:ext cx="3383280" cy="1691640"/>
          </a:xfrm>
          <a:prstGeom prst="roundRect">
            <a:avLst/>
          </a:prstGeom>
          <a:solidFill>
            <a:srgbClr val="FFF4F4"/>
          </a:solidFill>
          <a:ln w="11430">
            <a:solidFill>
              <a:srgbClr val="E6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4553712"/>
            <a:ext cx="3236976" cy="1508760"/>
          </a:xfrm>
          <a:prstGeom prst="rect">
            <a:avLst/>
          </a:prstGeom>
          <a:noFill/>
        </p:spPr>
        <p:txBody>
          <a:bodyPr wrap="square" lIns="54864" rIns="54864" bIns="36576">
            <a:spAutoFit/>
          </a:bodyPr>
          <a:lstStyle/>
          <a:p>
            <a:r>
              <a:rPr sz="1300" b="1">
                <a:solidFill>
                  <a:srgbClr val="E65A5A"/>
                </a:solidFill>
                <a:latin typeface="微软雅黑" panose="020B0503020204020204" charset="-122"/>
              </a:rPr>
              <a:t>壁垒3：规模化能力</a:t>
            </a:r>
            <a:endParaRPr sz="1300" b="1">
              <a:solidFill>
                <a:srgbClr val="E65A5A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云函数调度支撑高并发低运维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可扩展接入更多可穿戴平台</a:t>
            </a:r>
          </a:p>
          <a:p>
            <a:pPr>
              <a:spcBef>
                <a:spcPts val="200"/>
              </a:spcBef>
              <a:defRPr sz="110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B2B2C路径支撑商业化推广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6144768"/>
            <a:ext cx="10881360" cy="146304"/>
          </a:xfrm>
          <a:prstGeom prst="roundRect">
            <a:avLst/>
          </a:prstGeom>
          <a:solidFill>
            <a:srgbClr val="EEF4FF"/>
          </a:solidFill>
          <a:ln w="8890">
            <a:solidFill>
              <a:srgbClr val="B8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135624"/>
            <a:ext cx="10241280" cy="1463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2B5FA6"/>
                </a:solidFill>
                <a:latin typeface="微软雅黑" panose="020B0503020204020204" charset="-122"/>
              </a:rPr>
              <a:t>结论：项目已形成“技术可行 + 医疗可信 + 商业可扩”的三重成立条件。</a:t>
            </a:r>
            <a:endParaRPr sz="1050" b="1">
              <a:solidFill>
                <a:srgbClr val="2B5FA6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9184" y="6537960"/>
            <a:ext cx="7315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6B7D95"/>
                </a:solidFill>
                <a:latin typeface="微软雅黑" panose="020B0503020204020204" charset="-122"/>
              </a:rPr>
              <a:t>4/4</a:t>
            </a:r>
            <a:endParaRPr sz="10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20240" y="6473952"/>
            <a:ext cx="996696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>
                <a:solidFill>
                  <a:srgbClr val="6B7D95"/>
                </a:solidFill>
                <a:latin typeface="微软雅黑" panose="020B0503020204020204" charset="-122"/>
              </a:rPr>
              <a:t>参考：ima.qq.com；developers.weixin.qq.com；彭进亚等,2016；朱南希等,2022；李冬,2019</a:t>
            </a:r>
            <a:endParaRPr sz="900" b="0">
              <a:solidFill>
                <a:srgbClr val="6B7D9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1721</Words>
  <Application>WPS 演示</Application>
  <PresentationFormat>On-screen Show (4:3)</PresentationFormat>
  <Paragraphs>197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刘昌宁</cp:lastModifiedBy>
  <cp:revision>2</cp:revision>
  <dcterms:created xsi:type="dcterms:W3CDTF">2013-01-27T09:14:00Z</dcterms:created>
  <dcterms:modified xsi:type="dcterms:W3CDTF">2026-04-12T14:17:40Z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2453A00DAA3C4799BA8D4430E8907AA7_12</vt:lpwstr>
  </property>
  <property fmtid="{D5CDD505-2E9C-101B-9397-08002B2CF9AE}" pid="3" name="KSOProductBuildVer">
    <vt:lpwstr>2052-12.1.0.24655</vt:lpwstr>
  </property>
</Properties>
</file>