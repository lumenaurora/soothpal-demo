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核心技术（1/4）技术闭环架构：从记录到干预的全流程引擎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舒伴 SoothPal 以“低负担采集 + 可解释预警 + AI赋能教育”构建慢性疼痛居家管理底座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8001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8001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0" y="1005840"/>
            <a:ext cx="2971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3474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核心流程：采集 → 建档 → 评估 → 干预 → 随访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零负担采集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2D点选/语音打卡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6272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数据建档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时间线+用户画像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58184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95344" y="1828800"/>
            <a:ext cx="1417320" cy="1325880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8496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风险评估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阈值+突变+状态机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40096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77255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7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AI生成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0407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检索增强+通俗表达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22007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59168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127101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闭环随访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59152"/>
            <a:ext cx="1271016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0">
                <a:solidFill>
                  <a:srgbClr val="1E2A3A"/>
                </a:solidFill>
                <a:latin typeface="Microsoft YaHei"/>
              </a:rPr>
              <a:t>分级提醒+周报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关键技术栈（MVP可直接落地）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前端与交互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微信小程序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2D疼痛标注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语音录入(ASR)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服务与数据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242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云托管/Serverless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9242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728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MySQL + Redis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9242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对象存储 + 审计日志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88152" y="481888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智能与触达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6130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16168" y="510235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RAG知识引擎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6130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542239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规则预警引擎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6130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6168" y="5742431"/>
            <a:ext cx="187451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Microsoft YaHei"/>
              </a:rPr>
              <a:t>订阅消息/亲情号通知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1188720"/>
            <a:ext cx="2697480" cy="1874519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Microsoft YaHei"/>
              </a:rPr>
              <a:t>我们的技术主张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把医疗安全放在第一优先级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把每次记录变成可执行干预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把短期使用变成长期陪伴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3104" y="3154680"/>
            <a:ext cx="2697480" cy="160020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2B8A9"/>
                </a:solidFill>
                <a:latin typeface="Microsoft YaHei"/>
              </a:rPr>
              <a:t>项目阶段目标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立项期完成端到端Demo闭环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试点期沉淀可审计规则与知识资产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33104" y="4892040"/>
            <a:ext cx="2697480" cy="118872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6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5074920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价值落点：
让患者长期记录、看懂趋势、
并在风险出现前得到干预。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1/4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参考：developers.weixin.qq.com；ima.qq.com；J Med Internet Res 2020;22(9):e20283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核心技术（2/4）创新一：零负担数据采集，让随访真正可持续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用“10秒记录”替代“长问卷输入”，让真实世界数据持续产生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9320" y="10058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5669280"/>
            <a:ext cx="11155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交互入口：2D人体点选/涂抹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868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Microsoft YaHei"/>
              </a:rPr>
              <a:t>前视图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691640"/>
            <a:ext cx="868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Microsoft YaHei"/>
              </a:rPr>
              <a:t>后视图</a:t>
            </a:r>
          </a:p>
        </p:txBody>
      </p:sp>
      <p:sp>
        <p:nvSpPr>
          <p:cNvPr id="13" name="Oval 12"/>
          <p:cNvSpPr/>
          <p:nvPr/>
        </p:nvSpPr>
        <p:spPr>
          <a:xfrm>
            <a:off x="1783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830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4480" y="3154680"/>
            <a:ext cx="530352" cy="530352"/>
          </a:xfrm>
          <a:prstGeom prst="ellipse">
            <a:avLst/>
          </a:prstGeom>
          <a:solidFill>
            <a:srgbClr val="F39D93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75887" y="3063240"/>
            <a:ext cx="658368" cy="658368"/>
          </a:xfrm>
          <a:prstGeom prst="ellipse">
            <a:avLst/>
          </a:prstGeom>
          <a:solidFill>
            <a:srgbClr val="ED7474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B7D95"/>
                </a:solidFill>
                <a:latin typeface="Microsoft YaHei"/>
              </a:rPr>
              <a:t>记录方式：点选部位 + 强度滑条 + 一键保存，不要求长文本输入。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AI结构化采集流程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600200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837943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1) 用户一句话描述疼痛变化与用药情况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05088" y="2386584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2532888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770632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2) ASR转写并抽取字段（部位/强度/诱因/疗效）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705088" y="3319272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3465576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03320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3) 弹出确认卡片（确认 / 修改）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05088" y="4251960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6208" y="4398264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36008"/>
            <a:ext cx="4846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Microsoft YaHei"/>
              </a:rPr>
              <a:t>4) 自动入库并触发后续评估与宣教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681728"/>
            <a:ext cx="5175504" cy="676656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901184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触发式补采集：步数骤降 / 服药后X小时 / 连续未记录 → 主动追问1句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97296"/>
            <a:ext cx="3429000" cy="42062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采集耗时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Microsoft YaHei"/>
              </a:rPr>
              <a:t>目标≤10秒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5797296"/>
            <a:ext cx="3429000" cy="420624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4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字段结构化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B8A9"/>
                </a:solidFill>
                <a:latin typeface="Microsoft YaHei"/>
              </a:rPr>
              <a:t>自动完成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3296" y="5797296"/>
            <a:ext cx="3429000" cy="420624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6448" y="5925312"/>
            <a:ext cx="13258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Microsoft YaHei"/>
              </a:rPr>
              <a:t>失访召回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616" y="5925312"/>
            <a:ext cx="190195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65A5A"/>
                </a:solidFill>
                <a:latin typeface="Microsoft YaHei"/>
              </a:rPr>
              <a:t>状态机触发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2/4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参考：J Med Internet Res 2020;22(9):e20283；团队访谈与问卷调研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核心技术（3/4）创新二：可解释预警与个性化推送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规则引擎先守住安全底线，再用个体化策略提升干预效果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005840"/>
            <a:ext cx="42976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双路径风险识别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2926080" cy="182880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Microsoft YaHei"/>
              </a:rPr>
              <a:t>Path A：静态阈值/突变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NRS≥8 直接触发高危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较7日均值突增≥3且当日≥6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用于急性风险即时兜底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572768"/>
            <a:ext cx="2926080" cy="182880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22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Microsoft YaHei"/>
              </a:rPr>
              <a:t>Path B：治疗周期状态机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术后期/康复期/药物敏感期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阈值动态调整 + 连续性判定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识别慢性风险与依从性下降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8600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34924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749039"/>
            <a:ext cx="3520440" cy="86868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977639"/>
            <a:ext cx="3246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2B5FA6"/>
                </a:solidFill>
                <a:latin typeface="Microsoft YaHei"/>
              </a:rPr>
              <a:t>Risk Level 1 / 2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224528"/>
            <a:ext cx="32461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Microsoft YaHei"/>
              </a:rPr>
              <a:t>Action Dispatcher：通知 / 报告 / 宣教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846320"/>
            <a:ext cx="5303520" cy="1207008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230368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Microsoft YaHei"/>
              </a:rPr>
              <a:t>实时监听：触发器/云函数执行；
审计输出：rule_id + reason + event_time，便于复盘与优化。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115568"/>
            <a:ext cx="30175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分级响应（系统自动执行）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57276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70078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65A5A"/>
                </a:solidFill>
                <a:latin typeface="Microsoft YaHei"/>
              </a:rPr>
              <a:t>Level 1 高危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01168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触发：NRS≥8或突增&gt;3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30428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动作：强提醒 + 就医建议模板 + 紧急摘要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12724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325526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98B16"/>
                </a:solidFill>
                <a:latin typeface="Microsoft YaHei"/>
              </a:rPr>
              <a:t>Level 2 中危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56616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触发：5-7分持续≥3天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385876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动作：建议联系医生 + 并发症注意事项推送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68172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B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809744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B89D6"/>
                </a:solidFill>
                <a:latin typeface="Microsoft YaHei"/>
              </a:rPr>
              <a:t>Level 3 依从性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5120640"/>
            <a:ext cx="3611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触发：超过X天未记录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5413248"/>
            <a:ext cx="3611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Microsoft YaHei"/>
              </a:rPr>
              <a:t>动作：温和召回 + 24h延迟队列 + 亲情号提醒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3/4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参考：支瑞聪等,2020；朱南希等,2022；团队预警规则设计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核心技术（4/4）创新三：AI深度融合与长期壁垒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1148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9E7FB"/>
                </a:solidFill>
                <a:latin typeface="Microsoft YaHei"/>
              </a:rPr>
              <a:t>以“检索增强 + 脱敏治理 + 安全护栏”构建可持续迭代的技术中台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55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11155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3291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Microsoft YaHei"/>
              </a:rPr>
              <a:t>AI闭环流程（时序）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用户提问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Microsoft YaHei"/>
              </a:rPr>
              <a:t>AI网关脱敏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0056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1828800"/>
            <a:ext cx="2011680" cy="1389888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9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199085"/>
                </a:solidFill>
                <a:latin typeface="Microsoft YaHei"/>
              </a:rPr>
              <a:t>知识检索增强
(IMA知识库+平台知识库)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41464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32904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Microsoft YaHei"/>
              </a:rPr>
              <a:t>安全护栏与通俗化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54312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286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Microsoft YaHei"/>
              </a:rPr>
              <a:t>返回短句答案+引用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337560"/>
            <a:ext cx="10424160" cy="50292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502152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6B7D95"/>
                </a:solidFill>
                <a:latin typeface="Microsoft YaHei"/>
              </a:rPr>
              <a:t>隐私原则：用户画像与病历原文不外发；外部能力仅接收脱敏后的最小必要Query。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3383280" cy="169164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Microsoft YaHei"/>
              </a:rPr>
              <a:t>壁垒1：知识资产化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指南/共识/循证内容结构化沉淀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输出带引用，可追溯可质控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专家审核保障医学可靠性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434840"/>
            <a:ext cx="3383280" cy="169164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Microsoft YaHei"/>
              </a:rPr>
              <a:t>壁垒2：安全可控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规则先决策，AI做解释与教育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高危场景使用固定就医模板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权限、同意、审计全链路留痕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434840"/>
            <a:ext cx="3383280" cy="169164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Microsoft YaHei"/>
              </a:rPr>
              <a:t>壁垒3：规模化能力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云函数调度支撑高并发低运维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可扩展接入更多可穿戴平台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Microsoft YaHei"/>
              </a:defRPr>
            </a:pPr>
            <a:r>
              <a:t>• B2B2C路径支撑商业化推广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144768"/>
            <a:ext cx="10881360" cy="146304"/>
          </a:xfrm>
          <a:prstGeom prst="roundRect">
            <a:avLst/>
          </a:prstGeom>
          <a:solidFill>
            <a:srgbClr val="EEF4FF"/>
          </a:solidFill>
          <a:ln w="889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35624"/>
            <a:ext cx="10241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B5FA6"/>
                </a:solidFill>
                <a:latin typeface="Microsoft YaHei"/>
              </a:rPr>
              <a:t>结论：我们具备“技术可行 + 医疗可信 + 商业可扩”的三重成立条件。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Microsoft YaHei"/>
              </a:rPr>
              <a:t>4/4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Microsoft YaHei"/>
              </a:rPr>
              <a:t>参考：ima.qq.com；developers.weixin.qq.com；彭进亚等,2016；朱南希等,2022；李冬,2019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